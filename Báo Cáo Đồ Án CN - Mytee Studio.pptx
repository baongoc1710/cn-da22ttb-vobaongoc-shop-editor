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9" r:id="rId10"/>
    <p:sldId id="274" r:id="rId11"/>
    <p:sldId id="275" r:id="rId12"/>
    <p:sldId id="270" r:id="rId13"/>
    <p:sldId id="271" r:id="rId14"/>
    <p:sldId id="272" r:id="rId15"/>
    <p:sldId id="273" r:id="rId16"/>
  </p:sldIdLst>
  <p:sldSz cx="12192000" cy="6858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Rockwell" pitchFamily="18" charset="0"/>
      <p:regular r:id="rId22"/>
      <p:bold r:id="rId23"/>
      <p:italic r:id="rId24"/>
      <p:boldItalic r:id="rId25"/>
    </p:embeddedFont>
    <p:embeddedFont>
      <p:font typeface="Open Sans" charset="0"/>
      <p:regular r:id="rId26"/>
      <p:bold r:id="rId27"/>
      <p:italic r:id="rId28"/>
      <p:boldItalic r:id="rId29"/>
    </p:embeddedFont>
    <p:embeddedFont>
      <p:font typeface="Open Sans SemiBold" charset="0"/>
      <p:regular r:id="rId30"/>
      <p:bold r:id="rId31"/>
      <p:italic r:id="rId32"/>
      <p:boldItalic r:id="rId33"/>
    </p:embeddedFont>
    <p:embeddedFont>
      <p:font typeface="Roboto Black" charset="0"/>
      <p:bold r:id="rId34"/>
      <p:boldItalic r:id="rId35"/>
    </p:embeddedFont>
    <p:embeddedFont>
      <p:font typeface="Wingdings 2" pitchFamily="18" charset="2"/>
      <p:regular r:id="rId36"/>
    </p:embeddedFont>
    <p:embeddedFont>
      <p:font typeface="Open Sans Light" charset="0"/>
      <p:regular r:id="rId37"/>
      <p:bold r:id="rId38"/>
      <p:italic r:id="rId39"/>
      <p:boldItalic r:id="rId40"/>
    </p:embeddedFont>
    <p:embeddedFont>
      <p:font typeface="Roboto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301" y="-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12533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6304"/>
            <a:ext cx="11753088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8979" y="381001"/>
            <a:ext cx="109728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44800" y="2819400"/>
            <a:ext cx="8746979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3504" y="3267456"/>
            <a:ext cx="98755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498230"/>
            <a:ext cx="103632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87713"/>
            <a:ext cx="103632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2325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400800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948"/>
            <a:ext cx="109728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218"/>
            <a:ext cx="109728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43403" y="105765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515" y="304800"/>
            <a:ext cx="524256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17515" y="1107560"/>
            <a:ext cx="524256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4800" y="2209800"/>
            <a:ext cx="11555275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24" y="4724400"/>
            <a:ext cx="73152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3924" y="5388937"/>
            <a:ext cx="73152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06400" y="249864"/>
            <a:ext cx="113792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7085"/>
            <a:ext cx="1174779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27200" y="6400800"/>
            <a:ext cx="5616352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416800" y="6400800"/>
            <a:ext cx="400304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18603" y="6514568"/>
            <a:ext cx="619051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46237"/>
            <a:ext cx="109728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4.png"/><Relationship Id="rId10" Type="http://schemas.openxmlformats.org/officeDocument/2006/relationships/image" Target="../media/image14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00400" y="4340572"/>
            <a:ext cx="5791200" cy="116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90611" y="2006950"/>
            <a:ext cx="6210776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XÂY DỰNG WEBSITE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 BÁN ÁO THUN IN HÌNH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856796" y="3359498"/>
            <a:ext cx="27640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F59E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Mytee</a:t>
            </a:r>
            <a:r>
              <a:rPr lang="en-US" sz="2800" b="0" i="0" u="none" strike="noStrike" cap="none" dirty="0">
                <a:solidFill>
                  <a:srgbClr val="F59E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Studio</a:t>
            </a:r>
            <a:endParaRPr sz="280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3519492" y="1351662"/>
            <a:ext cx="51530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TRƯỜNG KỸ THUẬT VÀ CÔNG NGHỆ – KHOA CNTT</a:t>
            </a:r>
            <a:endParaRPr dirty="0"/>
          </a:p>
        </p:txBody>
      </p:sp>
      <p:sp>
        <p:nvSpPr>
          <p:cNvPr id="92" name="Google Shape;92;p13"/>
          <p:cNvSpPr/>
          <p:nvPr/>
        </p:nvSpPr>
        <p:spPr>
          <a:xfrm>
            <a:off x="6029328" y="4635847"/>
            <a:ext cx="9525" cy="575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48322" y="4411058"/>
            <a:ext cx="268100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Sinh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viên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thực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hiện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686178" y="4896748"/>
            <a:ext cx="23431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Võ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Bảo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Ngọc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238847" y="4437717"/>
            <a:ext cx="27241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Giản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viên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hướng</a:t>
            </a:r>
            <a:r>
              <a:rPr lang="en-US" sz="2000" dirty="0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Arial" pitchFamily="34" charset="0"/>
                <a:ea typeface="Open Sans"/>
                <a:cs typeface="Arial" pitchFamily="34" charset="0"/>
                <a:sym typeface="Open Sans"/>
              </a:rPr>
              <a:t>dẫn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629405" y="4923463"/>
            <a:ext cx="17902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Trần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Văn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 pitchFamily="34" charset="0"/>
                <a:ea typeface="Open Sans SemiBold"/>
                <a:cs typeface="Arial" pitchFamily="34" charset="0"/>
                <a:sym typeface="Open Sans SemiBold"/>
              </a:rPr>
              <a:t> Nam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23980"/>
            <a:ext cx="349240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2" y="1323980"/>
            <a:ext cx="3492549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1" y="1323980"/>
            <a:ext cx="349240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3" y="381001"/>
            <a:ext cx="349239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Giới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Thiệu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Đề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Tài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80" y="16097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904877" y="2181230"/>
            <a:ext cx="30169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Xu Hướng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04876" y="2590803"/>
            <a:ext cx="28732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Thị trường cá nhân hóa sản phẩm (POD) đang phát triển mạnh mẽ. Khách hàng muốn sản phẩm độc bản.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025" y="1609725"/>
            <a:ext cx="476251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4683029" y="2181230"/>
            <a:ext cx="301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Nhu Cầu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683025" y="2590803"/>
            <a:ext cx="287342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Nhu cầu tự thiết kế áo thun trực tuyến, xem trước sản phẩm (preview) trước khi đặt in.</a:t>
            </a:r>
            <a:endParaRPr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325" y="16097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8461325" y="2181230"/>
            <a:ext cx="30169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Vấn Đề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461325" y="2590800"/>
            <a:ext cx="28732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Các shop truyền thống xử lý thủ công, thiếu hệ thống quản lý tập trung từ thiết kế đến in ấn.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5" y="2008137"/>
            <a:ext cx="5286375" cy="35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3" y="381001"/>
            <a:ext cx="2876551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Mục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Tiêu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Đề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Tài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667500" y="2300287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Xây</a:t>
            </a:r>
            <a:r>
              <a:rPr lang="en-US" sz="1500" b="1" i="0" u="none" strike="noStrike" cap="none" dirty="0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dựng</a:t>
            </a:r>
            <a:r>
              <a:rPr lang="en-US" sz="1500" b="1" i="0" u="none" strike="noStrike" cap="none" dirty="0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 Website E-commerce: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Đầy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đủ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năng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trực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tuyến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6667500" y="3052762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Tích hợp Customizer: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Công cụ cho phép khách hàng tải ảnh, thêm chữ, đổi màu áo ngay trên web.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67500" y="3805237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Hệ thống quản lý (CMS):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Quản lý sản phẩm, đơn hàng, khách hàng và thiết kế.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667500" y="4557712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Quy trình khép kín: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Hỗ trợ luồng in ấn và giao hàng hiệu quả.</a:t>
            </a:r>
            <a:endParaRPr/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9" y="231934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9" y="3071818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9" y="3824287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9" y="4576768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/>
          <p:nvPr/>
        </p:nvPicPr>
        <p:blipFill>
          <a:blip r:embed="rId8"/>
          <a:stretch>
            <a:fillRect/>
          </a:stretch>
        </p:blipFill>
        <p:spPr>
          <a:xfrm>
            <a:off x="628651" y="2087250"/>
            <a:ext cx="5153024" cy="34277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1504" y="381001"/>
            <a:ext cx="34766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Đối Tượng Sử Dụng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1451" y="13239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484191" y="2466981"/>
            <a:ext cx="366702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Khách Hàng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2800355"/>
            <a:ext cx="34924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Người mua lẻ, nhóm lớp, công ty muốn in áo đồng phục.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603" y="13239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4262341" y="2466981"/>
            <a:ext cx="366717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Quản Trị Viên (Admin)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349652" y="2800355"/>
            <a:ext cx="34925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Chủ cửa hàng, người quản lý hệ thống và báo cáo.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97903" y="13239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8040643" y="2466981"/>
            <a:ext cx="366702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Nhân Viên Xử Lý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127951" y="2800350"/>
            <a:ext cx="349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Bộ phận in ấn, kho vận và giao hàng.</a:t>
            </a:r>
            <a:endParaRPr/>
          </a:p>
        </p:txBody>
      </p:sp>
      <p:pic>
        <p:nvPicPr>
          <p:cNvPr id="161" name="Google Shape;16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79577" y="1609725"/>
            <a:ext cx="476251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725" y="1609725"/>
            <a:ext cx="476251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83651" y="16097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9" y="2278564"/>
            <a:ext cx="5286375" cy="305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1" y="381001"/>
            <a:ext cx="61626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Phân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Tích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Nghiệp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Vụ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Khách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Hàng</a:t>
            </a:r>
            <a:endParaRPr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904875" y="210978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Đăng ký / Đăng nhập: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Quản lý lịch sử thiết kế cá nhân.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04875" y="2557462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Product Selection: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Chọn loại áo, size (S-XXL), màu sắc cơ bản.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04875" y="33099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Design Tool (Core):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04875" y="5053012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Checkout: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Thanh toán và Tracking đơn hàng.</a:t>
            </a:r>
            <a:endParaRPr/>
          </a:p>
        </p:txBody>
      </p:sp>
      <p:pic>
        <p:nvPicPr>
          <p:cNvPr id="181" name="Google Shape;18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212884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2576518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3328990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5072068"/>
            <a:ext cx="1047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524001" y="3709987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Upload ảnh cá nhân.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524001" y="4157662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Thêm Text, chỉnh Font/Màu.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524001" y="4605337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Drag &amp; Drop vị trí in.</a:t>
            </a:r>
            <a:endParaRPr/>
          </a:p>
        </p:txBody>
      </p:sp>
      <p:pic>
        <p:nvPicPr>
          <p:cNvPr id="188" name="Google Shape;18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0629" y="3729041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0629" y="4176718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0629" y="462439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/>
          <p:cNvPicPr/>
          <p:nvPr/>
        </p:nvPicPr>
        <p:blipFill>
          <a:blip r:embed="rId8"/>
          <a:stretch>
            <a:fillRect/>
          </a:stretch>
        </p:blipFill>
        <p:spPr>
          <a:xfrm>
            <a:off x="6438900" y="2340482"/>
            <a:ext cx="5157791" cy="289719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571503" y="381001"/>
            <a:ext cx="51530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Phân Tích Nghiệp Vụ: Admin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6667500" y="1957387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Product Management: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CRUD sản phẩm gốc, giá nhập, giá bán.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667500" y="2709862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Color &amp; Mockups: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Quản lý biến thể màu, ảnh phôi (Front/Back).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667500" y="34623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Order Management: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667500" y="5205412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Banners: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Cấu hình Slide quảng cáo trang chủ.</a:t>
            </a:r>
            <a:endParaRPr/>
          </a:p>
        </p:txBody>
      </p:sp>
      <p:pic>
        <p:nvPicPr>
          <p:cNvPr id="208" name="Google Shape;20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9" y="1976437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9" y="2728918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9" y="348139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9" y="5224468"/>
            <a:ext cx="1047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7286625" y="3862387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Xem chi tiết đơn hàng.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286625" y="4310062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Tải file thiết kế gốc (High Res).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7286625" y="4757737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Cập nhật trạng thái in ấn.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254" y="388144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254" y="4329118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254" y="477679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3" y="1668866"/>
            <a:ext cx="5181600" cy="232211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3" y="4047053"/>
            <a:ext cx="5181600" cy="2043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23980"/>
            <a:ext cx="349240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2" y="1323980"/>
            <a:ext cx="3492549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1" y="1323980"/>
            <a:ext cx="349240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571503" y="381001"/>
            <a:ext cx="3562351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Kiến Trúc Hệ Thống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251" name="Google Shape;25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3392" y="1714500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694216" y="2476506"/>
            <a:ext cx="3246968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771529" y="2714625"/>
            <a:ext cx="30923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HTML, CSS,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JS</a:t>
            </a:r>
            <a:endParaRPr dirty="0"/>
          </a:p>
        </p:txBody>
      </p:sp>
      <p:sp>
        <p:nvSpPr>
          <p:cNvPr id="255" name="Google Shape;255;p20"/>
          <p:cNvSpPr txBox="1"/>
          <p:nvPr/>
        </p:nvSpPr>
        <p:spPr>
          <a:xfrm>
            <a:off x="771529" y="3114675"/>
            <a:ext cx="309235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smtClean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trình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thiết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kế</a:t>
            </a:r>
            <a:endParaRPr dirty="0"/>
          </a:p>
        </p:txBody>
      </p:sp>
      <p:pic>
        <p:nvPicPr>
          <p:cNvPr id="256" name="Google Shape;25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3" y="1714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4472363" y="2476506"/>
            <a:ext cx="3247124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549677" y="2714625"/>
            <a:ext cx="3092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Laravel (PHP)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4549677" y="3114675"/>
            <a:ext cx="309249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Mô hình MVC, RESTful Support</a:t>
            </a:r>
            <a:endParaRPr/>
          </a:p>
        </p:txBody>
      </p:sp>
      <p:pic>
        <p:nvPicPr>
          <p:cNvPr id="260" name="Google Shape;260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21742" y="1714500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8250667" y="2476506"/>
            <a:ext cx="3246968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Database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327978" y="2714625"/>
            <a:ext cx="30923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MySQL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8327978" y="3114675"/>
            <a:ext cx="309235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Quan hệ chặt chẽ, ACID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9" y="2272605"/>
            <a:ext cx="5286375" cy="3928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571500" y="381001"/>
            <a:ext cx="45815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Tổng Quan Cơ Sở Dữ Liệu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275" name="Google Shape;27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571505" y="2438400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Mô hình thực thể kết hợp (ERD) bao gồm các bảng chính: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904875" y="2933700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users: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Thông tin người dùng.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04875" y="3381375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products: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Thông tin áo gốc.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04875" y="3829050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product_colors: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Biến thể màu sắc &amp; ảnh Mockup.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904875" y="4276725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saved_designs: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JSON cấu hình thiết kế của khách.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04875" y="4724400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B96"/>
                </a:solidFill>
                <a:latin typeface="Open Sans"/>
                <a:ea typeface="Open Sans"/>
                <a:cs typeface="Open Sans"/>
                <a:sym typeface="Open Sans"/>
              </a:rPr>
              <a:t>orders / order_items: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Đơn hàng và chi tiết.</a:t>
            </a:r>
            <a:endParaRPr/>
          </a:p>
        </p:txBody>
      </p:sp>
      <p:pic>
        <p:nvPicPr>
          <p:cNvPr id="283" name="Google Shape;28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2952756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3400425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3848106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4295781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5" y="4743456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/>
          <p:cNvPicPr/>
          <p:nvPr/>
        </p:nvPicPr>
        <p:blipFill>
          <a:blip r:embed="rId8"/>
          <a:stretch>
            <a:fillRect/>
          </a:stretch>
        </p:blipFill>
        <p:spPr>
          <a:xfrm>
            <a:off x="6448424" y="2349896"/>
            <a:ext cx="5172079" cy="374610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571501" y="381001"/>
            <a:ext cx="3829051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vi-VN" sz="3150" b="1" dirty="0" smtClean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Sơ </a:t>
            </a:r>
            <a:r>
              <a:rPr lang="vi-VN" sz="3150" b="1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đồ DFD mức 1</a:t>
            </a:r>
          </a:p>
          <a:p>
            <a:endParaRPr lang="en-GB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26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378" name="Google Shape;37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6"/>
          <a:stretch>
            <a:fillRect/>
          </a:stretch>
        </p:blipFill>
        <p:spPr>
          <a:xfrm>
            <a:off x="833377" y="1192192"/>
            <a:ext cx="10451939" cy="422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571501" y="381001"/>
            <a:ext cx="3829051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vi-VN" sz="3150" b="1" dirty="0" smtClean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Sơ </a:t>
            </a:r>
            <a:r>
              <a:rPr lang="vi-VN" sz="3150" b="1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đồ DFD mức </a:t>
            </a:r>
            <a:r>
              <a:rPr lang="en-US" sz="3150" b="1" dirty="0" smtClean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lang="vi-VN" sz="3150" b="1" dirty="0">
              <a:solidFill>
                <a:srgbClr val="003366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GB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26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378" name="Google Shape;37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6"/>
          <a:stretch>
            <a:fillRect/>
          </a:stretch>
        </p:blipFill>
        <p:spPr>
          <a:xfrm>
            <a:off x="1273215" y="1330516"/>
            <a:ext cx="9479666" cy="1792766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7"/>
          <a:stretch>
            <a:fillRect/>
          </a:stretch>
        </p:blipFill>
        <p:spPr>
          <a:xfrm>
            <a:off x="1273215" y="2922114"/>
            <a:ext cx="9287446" cy="34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571501" y="381001"/>
            <a:ext cx="3829051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vi-VN" sz="3150" b="1" dirty="0" smtClean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Tính </a:t>
            </a:r>
            <a:r>
              <a:rPr lang="vi-VN" sz="3150" b="1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phi chức năng</a:t>
            </a:r>
          </a:p>
          <a:p>
            <a:endParaRPr lang="en-GB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26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pic>
        <p:nvPicPr>
          <p:cNvPr id="378" name="Google Shape;37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4B4CBC1C-9D79-49B6-AF0B-997325C28134}"/>
              </a:ext>
            </a:extLst>
          </p:cNvPr>
          <p:cNvSpPr txBox="1"/>
          <p:nvPr/>
        </p:nvSpPr>
        <p:spPr>
          <a:xfrm>
            <a:off x="868680" y="1457444"/>
            <a:ext cx="72694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Web </a:t>
            </a:r>
            <a:r>
              <a:rPr lang="en-US" sz="2400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phải</a:t>
            </a:r>
            <a:r>
              <a:rPr lang="en-US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đảm</a:t>
            </a:r>
            <a:r>
              <a:rPr lang="en-US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bảo</a:t>
            </a:r>
            <a:r>
              <a:rPr lang="vi-VN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vi-VN" sz="2400" b="0" dirty="0">
              <a:effectLst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vi-VN" sz="2400" dirty="0" smtClean="0"/>
              <a:t>Hiệu </a:t>
            </a:r>
            <a:r>
              <a:rPr lang="vi-VN" sz="2400" dirty="0"/>
              <a:t>suất: Hệ thống xử lý nhanh, hỗ trợ nhiều người truy cập đồng thời</a:t>
            </a:r>
            <a:r>
              <a:rPr lang="vi-VN" sz="2400" dirty="0" smtClean="0"/>
              <a:t>.</a:t>
            </a:r>
            <a:endParaRPr lang="vi-VN" sz="24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vi-VN" sz="2400" dirty="0"/>
              <a:t>Bảo mật: Bảo vệ thông tin cá nhân và giao dịch</a:t>
            </a:r>
            <a:r>
              <a:rPr lang="vi-VN" sz="2400" dirty="0" smtClean="0"/>
              <a:t>.</a:t>
            </a:r>
            <a:endParaRPr lang="vi-VN" sz="24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vi-VN" sz="2400" dirty="0"/>
              <a:t>Tương thích đa thiết bị: Hỗ trợ trình duyệt phổ biến và giao diện di động. 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6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7"/>
          <p:cNvSpPr txBox="1"/>
          <p:nvPr/>
        </p:nvSpPr>
        <p:spPr>
          <a:xfrm>
            <a:off x="571505" y="381001"/>
            <a:ext cx="46767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Quy Trình Xử Lý Đơn Hàng</a:t>
            </a:r>
            <a:endParaRPr/>
          </a:p>
        </p:txBody>
      </p:sp>
      <p:sp>
        <p:nvSpPr>
          <p:cNvPr id="406" name="Google Shape;406;p27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sp>
        <p:nvSpPr>
          <p:cNvPr id="407" name="Google Shape;407;p27"/>
          <p:cNvSpPr txBox="1"/>
          <p:nvPr/>
        </p:nvSpPr>
        <p:spPr>
          <a:xfrm>
            <a:off x="11306180" y="6534156"/>
            <a:ext cx="5048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Slide 15</a:t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1047751" y="3976613"/>
            <a:ext cx="10096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0071" y="340325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7"/>
          <p:cNvSpPr txBox="1"/>
          <p:nvPr/>
        </p:nvSpPr>
        <p:spPr>
          <a:xfrm>
            <a:off x="521780" y="4117627"/>
            <a:ext cx="2088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1. Chọn Áo</a:t>
            </a:r>
            <a:endParaRPr/>
          </a:p>
        </p:txBody>
      </p:sp>
      <p:sp>
        <p:nvSpPr>
          <p:cNvPr id="413" name="Google Shape;413;p27"/>
          <p:cNvSpPr txBox="1"/>
          <p:nvPr/>
        </p:nvSpPr>
        <p:spPr>
          <a:xfrm>
            <a:off x="571503" y="4374802"/>
            <a:ext cx="198879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Chọn loại, màu, size</a:t>
            </a:r>
            <a:endParaRPr/>
          </a:p>
        </p:txBody>
      </p:sp>
      <p:pic>
        <p:nvPicPr>
          <p:cNvPr id="414" name="Google Shape;41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45087" y="340325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7"/>
          <p:cNvSpPr txBox="1"/>
          <p:nvPr/>
        </p:nvSpPr>
        <p:spPr>
          <a:xfrm>
            <a:off x="2786796" y="4117627"/>
            <a:ext cx="2088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2. Thiết Kế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2836518" y="4374802"/>
            <a:ext cx="198879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Tùy chỉnh trên Web</a:t>
            </a:r>
            <a:endParaRPr/>
          </a:p>
        </p:txBody>
      </p:sp>
      <p:pic>
        <p:nvPicPr>
          <p:cNvPr id="417" name="Google Shape;41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103" y="340325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7"/>
          <p:cNvSpPr txBox="1"/>
          <p:nvPr/>
        </p:nvSpPr>
        <p:spPr>
          <a:xfrm>
            <a:off x="5051812" y="4117627"/>
            <a:ext cx="2088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3. Đặt Hàng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5101533" y="4374802"/>
            <a:ext cx="198879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Checkout &amp; Thanh toán</a:t>
            </a:r>
            <a:endParaRPr/>
          </a:p>
        </p:txBody>
      </p:sp>
      <p:pic>
        <p:nvPicPr>
          <p:cNvPr id="420" name="Google Shape;42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5119" y="340325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7316828" y="4117627"/>
            <a:ext cx="2088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4. In Ấn</a:t>
            </a:r>
            <a:endParaRPr/>
          </a:p>
        </p:txBody>
      </p:sp>
      <p:sp>
        <p:nvSpPr>
          <p:cNvPr id="422" name="Google Shape;422;p27"/>
          <p:cNvSpPr txBox="1"/>
          <p:nvPr/>
        </p:nvSpPr>
        <p:spPr>
          <a:xfrm>
            <a:off x="7366549" y="4374802"/>
            <a:ext cx="198879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Admin tải file &amp; In</a:t>
            </a:r>
            <a:endParaRPr/>
          </a:p>
        </p:txBody>
      </p:sp>
      <p:pic>
        <p:nvPicPr>
          <p:cNvPr id="423" name="Google Shape;423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40131" y="340325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7"/>
          <p:cNvSpPr txBox="1"/>
          <p:nvPr/>
        </p:nvSpPr>
        <p:spPr>
          <a:xfrm>
            <a:off x="9581844" y="4117627"/>
            <a:ext cx="2088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5. Giao Hàng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9631563" y="4374802"/>
            <a:ext cx="198879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Vận chuyển đến khách</a:t>
            </a:r>
            <a:endParaRPr/>
          </a:p>
        </p:txBody>
      </p:sp>
      <p:pic>
        <p:nvPicPr>
          <p:cNvPr id="426" name="Google Shape;426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2949" y="3574702"/>
            <a:ext cx="285751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16535" y="357470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67267" y="357470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46567" y="357470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83009" y="3574702"/>
            <a:ext cx="285751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5" y="1323980"/>
            <a:ext cx="5286375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9" y="1323980"/>
            <a:ext cx="5286375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8"/>
          <p:cNvSpPr txBox="1"/>
          <p:nvPr/>
        </p:nvSpPr>
        <p:spPr>
          <a:xfrm>
            <a:off x="571503" y="381001"/>
            <a:ext cx="34671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Đánh Giá Hệ Thống</a:t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sp>
        <p:nvSpPr>
          <p:cNvPr id="441" name="Google Shape;441;p28"/>
          <p:cNvSpPr txBox="1"/>
          <p:nvPr/>
        </p:nvSpPr>
        <p:spPr>
          <a:xfrm>
            <a:off x="11306180" y="6534156"/>
            <a:ext cx="5048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Slide 16</a:t>
            </a:r>
            <a:endParaRPr/>
          </a:p>
        </p:txBody>
      </p:sp>
      <p:pic>
        <p:nvPicPr>
          <p:cNvPr id="443" name="Google Shape;44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8"/>
          <p:cNvSpPr txBox="1"/>
          <p:nvPr/>
        </p:nvSpPr>
        <p:spPr>
          <a:xfrm>
            <a:off x="904875" y="1609727"/>
            <a:ext cx="49006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Ưu Điểm</a:t>
            </a:r>
            <a:endParaRPr/>
          </a:p>
        </p:txBody>
      </p:sp>
      <p:sp>
        <p:nvSpPr>
          <p:cNvPr id="445" name="Google Shape;445;p28"/>
          <p:cNvSpPr txBox="1"/>
          <p:nvPr/>
        </p:nvSpPr>
        <p:spPr>
          <a:xfrm>
            <a:off x="6667503" y="1609727"/>
            <a:ext cx="49006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Hạn Chế</a:t>
            </a:r>
            <a:endParaRPr/>
          </a:p>
        </p:txBody>
      </p:sp>
      <p:pic>
        <p:nvPicPr>
          <p:cNvPr id="446" name="Google Shape;446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619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8"/>
          <p:cNvSpPr txBox="1"/>
          <p:nvPr/>
        </p:nvSpPr>
        <p:spPr>
          <a:xfrm>
            <a:off x="1238250" y="2019300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Giao diện thân thiện (User Friendly).</a:t>
            </a:r>
            <a:endParaRPr/>
          </a:p>
        </p:txBody>
      </p:sp>
      <p:sp>
        <p:nvSpPr>
          <p:cNvPr id="448" name="Google Shape;448;p28"/>
          <p:cNvSpPr txBox="1"/>
          <p:nvPr/>
        </p:nvSpPr>
        <p:spPr>
          <a:xfrm>
            <a:off x="1238250" y="2466975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Công cụ thiết kế hoạt động mượt mà, trực quan.</a:t>
            </a:r>
            <a:endParaRPr/>
          </a:p>
        </p:txBody>
      </p:sp>
      <p:sp>
        <p:nvSpPr>
          <p:cNvPr id="449" name="Google Shape;449;p28"/>
          <p:cNvSpPr txBox="1"/>
          <p:nvPr/>
        </p:nvSpPr>
        <p:spPr>
          <a:xfrm>
            <a:off x="1238250" y="2914650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Quy trình quản lý dữ liệu chặt chẽ, chính xác.</a:t>
            </a:r>
            <a:endParaRPr/>
          </a:p>
        </p:txBody>
      </p:sp>
      <p:pic>
        <p:nvPicPr>
          <p:cNvPr id="450" name="Google Shape;450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1619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8"/>
          <p:cNvSpPr txBox="1"/>
          <p:nvPr/>
        </p:nvSpPr>
        <p:spPr>
          <a:xfrm>
            <a:off x="1238251" y="3287679"/>
            <a:ext cx="4333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Chưa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cổng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thanh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Online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/VNPAY).</a:t>
            </a:r>
            <a:endParaRPr dirty="0"/>
          </a:p>
        </p:txBody>
      </p:sp>
      <p:sp>
        <p:nvSpPr>
          <p:cNvPr id="452" name="Google Shape;452;p28"/>
          <p:cNvSpPr txBox="1"/>
          <p:nvPr/>
        </p:nvSpPr>
        <p:spPr>
          <a:xfrm>
            <a:off x="6950871" y="2057406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viện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mẫu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Cliparts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còn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chế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453" name="Google Shape;453;p28"/>
          <p:cNvSpPr txBox="1"/>
          <p:nvPr/>
        </p:nvSpPr>
        <p:spPr>
          <a:xfrm>
            <a:off x="6950871" y="2505081"/>
            <a:ext cx="433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Chưa có tính năng xem trước 3D.</a:t>
            </a:r>
            <a:endParaRPr/>
          </a:p>
        </p:txBody>
      </p:sp>
      <p:pic>
        <p:nvPicPr>
          <p:cNvPr id="454" name="Google Shape;454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4879" y="2038356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4879" y="2486031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4879" y="2933706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4879" y="3306735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17499" y="2076462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17499" y="2524137"/>
            <a:ext cx="1047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 txBox="1"/>
          <p:nvPr/>
        </p:nvSpPr>
        <p:spPr>
          <a:xfrm>
            <a:off x="571505" y="381001"/>
            <a:ext cx="413765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Hướng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Phát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Triển</a:t>
            </a:r>
            <a:endParaRPr dirty="0"/>
          </a:p>
        </p:txBody>
      </p:sp>
      <p:sp>
        <p:nvSpPr>
          <p:cNvPr id="470" name="Google Shape;470;p29"/>
          <p:cNvSpPr txBox="1"/>
          <p:nvPr/>
        </p:nvSpPr>
        <p:spPr>
          <a:xfrm>
            <a:off x="628651" y="6463061"/>
            <a:ext cx="876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Mytee Studio</a:t>
            </a:r>
            <a:endParaRPr/>
          </a:p>
        </p:txBody>
      </p:sp>
      <p:sp>
        <p:nvSpPr>
          <p:cNvPr id="471" name="Google Shape;471;p29"/>
          <p:cNvSpPr txBox="1"/>
          <p:nvPr/>
        </p:nvSpPr>
        <p:spPr>
          <a:xfrm>
            <a:off x="11306180" y="6534156"/>
            <a:ext cx="5048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Slide 17</a:t>
            </a:r>
            <a:endParaRPr/>
          </a:p>
        </p:txBody>
      </p:sp>
      <p:pic>
        <p:nvPicPr>
          <p:cNvPr id="473" name="Google Shape;47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55796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066800" y="1697058"/>
            <a:ext cx="93573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rgbClr val="002060"/>
                </a:solidFill>
              </a:rPr>
              <a:t>Tích hợp AI</a:t>
            </a:r>
            <a:r>
              <a:rPr lang="vi-VN" sz="2400" dirty="0">
                <a:solidFill>
                  <a:srgbClr val="002060"/>
                </a:solidFill>
              </a:rPr>
              <a:t>:</a:t>
            </a:r>
            <a:r>
              <a:rPr lang="vi-VN" sz="2400" dirty="0"/>
              <a:t> Sử dụng trí tuệ nhân tạo để gợi ý thiết kế, tối ưu hóa vị trí in. </a:t>
            </a:r>
          </a:p>
          <a:p>
            <a:r>
              <a:rPr lang="vi-VN" sz="2400" b="1" dirty="0" smtClean="0">
                <a:solidFill>
                  <a:srgbClr val="002060"/>
                </a:solidFill>
              </a:rPr>
              <a:t>Đa </a:t>
            </a:r>
            <a:r>
              <a:rPr lang="vi-VN" sz="2400" b="1" dirty="0">
                <a:solidFill>
                  <a:srgbClr val="002060"/>
                </a:solidFill>
              </a:rPr>
              <a:t>dạng hóa sản phẩm</a:t>
            </a:r>
            <a:r>
              <a:rPr lang="vi-VN" sz="2400" dirty="0"/>
              <a:t>: Mở rộng sang các sản phẩm in ấn khác như áo hoodie, cốc sứ, </a:t>
            </a:r>
          </a:p>
          <a:p>
            <a:r>
              <a:rPr lang="vi-VN" sz="2400" dirty="0"/>
              <a:t>ốp điện thoại. </a:t>
            </a:r>
          </a:p>
          <a:p>
            <a:r>
              <a:rPr lang="vi-VN" sz="2400" b="1" dirty="0" smtClean="0">
                <a:solidFill>
                  <a:srgbClr val="002060"/>
                </a:solidFill>
              </a:rPr>
              <a:t>Tích </a:t>
            </a:r>
            <a:r>
              <a:rPr lang="vi-VN" sz="2400" b="1" dirty="0">
                <a:solidFill>
                  <a:srgbClr val="002060"/>
                </a:solidFill>
              </a:rPr>
              <a:t>hợp với mạng xã hội</a:t>
            </a:r>
            <a:r>
              <a:rPr lang="vi-VN" sz="2400" dirty="0"/>
              <a:t>: Cho phép chia sẻ thiết kế lên mạng xã hội, tạo hiệu ứng lan </a:t>
            </a:r>
          </a:p>
          <a:p>
            <a:r>
              <a:rPr lang="vi-VN" sz="2400" dirty="0"/>
              <a:t>truyền. </a:t>
            </a:r>
          </a:p>
          <a:p>
            <a:r>
              <a:rPr lang="vi-VN" sz="2400" b="1" dirty="0" smtClean="0">
                <a:solidFill>
                  <a:srgbClr val="002060"/>
                </a:solidFill>
              </a:rPr>
              <a:t>Cá </a:t>
            </a:r>
            <a:r>
              <a:rPr lang="vi-VN" sz="2400" b="1" dirty="0">
                <a:solidFill>
                  <a:srgbClr val="002060"/>
                </a:solidFill>
              </a:rPr>
              <a:t>nhân hóa trải nghiệm:</a:t>
            </a:r>
            <a:r>
              <a:rPr lang="vi-VN" sz="2400" dirty="0"/>
              <a:t> Dựa trên lịch sử mua hàng để gợi ý sản phẩm phù hợp.</a:t>
            </a:r>
            <a:endParaRPr lang="en-US" sz="240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2629" y="1563141"/>
            <a:ext cx="666751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0"/>
          <p:cNvSpPr txBox="1"/>
          <p:nvPr/>
        </p:nvSpPr>
        <p:spPr>
          <a:xfrm>
            <a:off x="4900849" y="2610892"/>
            <a:ext cx="23902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KẾT LUẬN</a:t>
            </a:r>
            <a:endParaRPr/>
          </a:p>
        </p:txBody>
      </p:sp>
      <p:sp>
        <p:nvSpPr>
          <p:cNvPr id="491" name="Google Shape;491;p30"/>
          <p:cNvSpPr txBox="1"/>
          <p:nvPr/>
        </p:nvSpPr>
        <p:spPr>
          <a:xfrm>
            <a:off x="2286000" y="3249070"/>
            <a:ext cx="7620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Đề tài đã hoàn thành mục tiêu xây dựng hệ thống website bán áo thun in hình theo yêu cầu, sẵn sàng cho việc triển khai thực tế.</a:t>
            </a:r>
            <a:endParaRPr/>
          </a:p>
        </p:txBody>
      </p:sp>
      <p:sp>
        <p:nvSpPr>
          <p:cNvPr id="492" name="Google Shape;492;p30"/>
          <p:cNvSpPr txBox="1"/>
          <p:nvPr/>
        </p:nvSpPr>
        <p:spPr>
          <a:xfrm>
            <a:off x="4115757" y="4361413"/>
            <a:ext cx="39604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Cảm ơn Thầy/Cô đã lắng nghe!</a:t>
            </a: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100</TotalTime>
  <Words>832</Words>
  <Application>Microsoft Office PowerPoint</Application>
  <PresentationFormat>Custom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Rockwell</vt:lpstr>
      <vt:lpstr>Open Sans</vt:lpstr>
      <vt:lpstr>Open Sans SemiBold</vt:lpstr>
      <vt:lpstr>Roboto Black</vt:lpstr>
      <vt:lpstr>Wingdings 2</vt:lpstr>
      <vt:lpstr>Open Sans Light</vt:lpstr>
      <vt:lpstr>Roboto</vt:lpstr>
      <vt:lpstr>Foundry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Thanh hai Vo</cp:lastModifiedBy>
  <cp:revision>12</cp:revision>
  <dcterms:modified xsi:type="dcterms:W3CDTF">2026-01-13T06:45:10Z</dcterms:modified>
</cp:coreProperties>
</file>