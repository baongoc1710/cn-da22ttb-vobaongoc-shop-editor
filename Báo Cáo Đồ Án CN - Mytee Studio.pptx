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9144000"/>
  <p:embeddedFontLst>
    <p:embeddedFont>
      <p:font typeface="Roboto" charset="0"/>
      <p:regular r:id="rId21"/>
      <p:bold r:id="rId22"/>
      <p:italic r:id="rId23"/>
      <p:boldItalic r:id="rId24"/>
    </p:embeddedFont>
    <p:embeddedFont>
      <p:font typeface="Open Sans" charset="0"/>
      <p:regular r:id="rId25"/>
      <p:bold r:id="rId26"/>
      <p:italic r:id="rId27"/>
      <p:boldItalic r:id="rId28"/>
    </p:embeddedFont>
    <p:embeddedFont>
      <p:font typeface="Roboto Black" charset="0"/>
      <p:bold r:id="rId29"/>
      <p:boldItalic r:id="rId30"/>
    </p:embeddedFont>
    <p:embeddedFont>
      <p:font typeface="Rockwell" pitchFamily="18" charset="0"/>
      <p:regular r:id="rId31"/>
      <p:bold r:id="rId32"/>
      <p:italic r:id="rId33"/>
      <p:boldItalic r:id="rId34"/>
    </p:embeddedFont>
    <p:embeddedFont>
      <p:font typeface="Open Sans SemiBold" charset="0"/>
      <p:regular r:id="rId35"/>
      <p:bold r:id="rId36"/>
      <p:italic r:id="rId37"/>
      <p:boldItalic r:id="rId38"/>
    </p:embeddedFont>
    <p:embeddedFont>
      <p:font typeface="Calibri" pitchFamily="34" charset="0"/>
      <p:regular r:id="rId39"/>
      <p:bold r:id="rId40"/>
      <p:italic r:id="rId41"/>
      <p:boldItalic r:id="rId42"/>
    </p:embeddedFont>
    <p:embeddedFont>
      <p:font typeface="Open Sans Light" charset="0"/>
      <p:regular r:id="rId43"/>
      <p:bold r:id="rId44"/>
      <p:italic r:id="rId45"/>
      <p:boldItalic r:id="rId46"/>
    </p:embeddedFont>
    <p:embeddedFont>
      <p:font typeface="Wingdings 2" pitchFamily="18" charset="2"/>
      <p:regular r:id="rId4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2" d="100"/>
          <a:sy n="82" d="100"/>
        </p:scale>
        <p:origin x="-691" y="-91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6.fntdata"/><Relationship Id="rId39" Type="http://schemas.openxmlformats.org/officeDocument/2006/relationships/font" Target="fonts/font19.fntdata"/><Relationship Id="rId3" Type="http://schemas.openxmlformats.org/officeDocument/2006/relationships/slide" Target="slides/slide2.xml"/><Relationship Id="rId21" Type="http://schemas.openxmlformats.org/officeDocument/2006/relationships/font" Target="fonts/font1.fntdata"/><Relationship Id="rId34" Type="http://schemas.openxmlformats.org/officeDocument/2006/relationships/font" Target="fonts/font14.fntdata"/><Relationship Id="rId42" Type="http://schemas.openxmlformats.org/officeDocument/2006/relationships/font" Target="fonts/font22.fntdata"/><Relationship Id="rId47" Type="http://schemas.openxmlformats.org/officeDocument/2006/relationships/font" Target="fonts/font27.fntdata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5.fntdata"/><Relationship Id="rId33" Type="http://schemas.openxmlformats.org/officeDocument/2006/relationships/font" Target="fonts/font13.fntdata"/><Relationship Id="rId38" Type="http://schemas.openxmlformats.org/officeDocument/2006/relationships/font" Target="fonts/font18.fntdata"/><Relationship Id="rId46" Type="http://schemas.openxmlformats.org/officeDocument/2006/relationships/font" Target="fonts/font26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29" Type="http://schemas.openxmlformats.org/officeDocument/2006/relationships/font" Target="fonts/font9.fntdata"/><Relationship Id="rId41" Type="http://schemas.openxmlformats.org/officeDocument/2006/relationships/font" Target="fonts/font21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4.fntdata"/><Relationship Id="rId32" Type="http://schemas.openxmlformats.org/officeDocument/2006/relationships/font" Target="fonts/font12.fntdata"/><Relationship Id="rId37" Type="http://schemas.openxmlformats.org/officeDocument/2006/relationships/font" Target="fonts/font17.fntdata"/><Relationship Id="rId40" Type="http://schemas.openxmlformats.org/officeDocument/2006/relationships/font" Target="fonts/font20.fntdata"/><Relationship Id="rId45" Type="http://schemas.openxmlformats.org/officeDocument/2006/relationships/font" Target="fonts/font25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3.fntdata"/><Relationship Id="rId28" Type="http://schemas.openxmlformats.org/officeDocument/2006/relationships/font" Target="fonts/font8.fntdata"/><Relationship Id="rId36" Type="http://schemas.openxmlformats.org/officeDocument/2006/relationships/font" Target="fonts/font16.fntdata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11.fntdata"/><Relationship Id="rId44" Type="http://schemas.openxmlformats.org/officeDocument/2006/relationships/font" Target="fonts/font2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2.fntdata"/><Relationship Id="rId27" Type="http://schemas.openxmlformats.org/officeDocument/2006/relationships/font" Target="fonts/font7.fntdata"/><Relationship Id="rId30" Type="http://schemas.openxmlformats.org/officeDocument/2006/relationships/font" Target="fonts/font10.fntdata"/><Relationship Id="rId35" Type="http://schemas.openxmlformats.org/officeDocument/2006/relationships/font" Target="fonts/font15.fntdata"/><Relationship Id="rId43" Type="http://schemas.openxmlformats.org/officeDocument/2006/relationships/font" Target="fonts/font23.fntdata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521253374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" name="Google Shape;9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2" name="Google Shape;122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3" name="Google Shape;143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6" name="Google Shape;166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3" name="Google Shape;193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0" name="Google Shape;240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6" name="Google Shape;266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0" name="Google Shape;290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4" name="Google Shape;314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7" name="Google Shape;337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2" name="Google Shape;352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8" name="Google Shape;368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1" name="Google Shape;401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3" name="Google Shape;433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" name="Google Shape;461;p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2" name="Google Shape;462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Google Shape;484;p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5" name="Google Shape;485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ound Diagonal Corner Rectangle 6"/>
          <p:cNvSpPr/>
          <p:nvPr/>
        </p:nvSpPr>
        <p:spPr>
          <a:xfrm>
            <a:off x="219456" y="146304"/>
            <a:ext cx="11753088" cy="2505456"/>
          </a:xfrm>
          <a:prstGeom prst="round2DiagRect">
            <a:avLst>
              <a:gd name="adj1" fmla="val 11807"/>
              <a:gd name="adj2" fmla="val 0"/>
            </a:avLst>
          </a:prstGeom>
          <a:solidFill>
            <a:schemeClr val="bg2">
              <a:tint val="85000"/>
              <a:shade val="90000"/>
              <a:satMod val="150000"/>
              <a:alpha val="65000"/>
            </a:schemeClr>
          </a:solidFill>
          <a:ln w="11000" cap="rnd" cmpd="sng" algn="ctr">
            <a:solidFill>
              <a:schemeClr val="bg2">
                <a:tint val="78000"/>
                <a:satMod val="180000"/>
                <a:alpha val="88000"/>
              </a:schemeClr>
            </a:solidFill>
            <a:prstDash val="solid"/>
          </a:ln>
          <a:effectLst>
            <a:innerShdw blurRad="114300">
              <a:srgbClr val="000000">
                <a:alpha val="100000"/>
              </a:srgbClr>
            </a:inn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618979" y="381001"/>
            <a:ext cx="10972800" cy="2209800"/>
          </a:xfrm>
        </p:spPr>
        <p:txBody>
          <a:bodyPr lIns="45720" rIns="228600" anchor="b">
            <a:normAutofit/>
          </a:bodyPr>
          <a:lstStyle>
            <a:lvl1pPr marL="0" algn="r">
              <a:defRPr sz="4800"/>
            </a:lvl1pPr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9" name="Subtitle 8"/>
          <p:cNvSpPr>
            <a:spLocks noGrp="1"/>
          </p:cNvSpPr>
          <p:nvPr>
            <p:ph type="subTitle" idx="1"/>
          </p:nvPr>
        </p:nvSpPr>
        <p:spPr>
          <a:xfrm>
            <a:off x="2844800" y="2819400"/>
            <a:ext cx="8746979" cy="1752600"/>
          </a:xfrm>
        </p:spPr>
        <p:txBody>
          <a:bodyPr lIns="45720" rIns="246888"/>
          <a:lstStyle>
            <a:lvl1pPr marL="0" indent="0" algn="r">
              <a:spcBef>
                <a:spcPts val="0"/>
              </a:spcBef>
              <a:buNone/>
              <a:defRPr>
                <a:effectLst/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  <a:extLst/>
          </a:lstStyle>
          <a:p>
            <a:r>
              <a:rPr kumimoji="0" lang="en-US" smtClean="0"/>
              <a:t>Click to edit Master subtitle style</a:t>
            </a:r>
            <a:endParaRPr kumimoji="0" lang="en-US"/>
          </a:p>
        </p:txBody>
      </p:sp>
      <p:sp>
        <p:nvSpPr>
          <p:cNvPr id="10" name="Date Placeholder 9"/>
          <p:cNvSpPr>
            <a:spLocks noGrp="1"/>
          </p:cNvSpPr>
          <p:nvPr>
            <p:ph type="dt" sz="half" idx="10"/>
          </p:nvPr>
        </p:nvSpPr>
        <p:spPr>
          <a:xfrm>
            <a:off x="7416800" y="6509004"/>
            <a:ext cx="4003040" cy="274320"/>
          </a:xfrm>
        </p:spPr>
        <p:txBody>
          <a:bodyPr vert="horz" rtlCol="0"/>
          <a:lstStyle>
            <a:extLst/>
          </a:lstStyle>
          <a:p>
            <a:endParaRPr lang="en-US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1"/>
          </p:nvPr>
        </p:nvSpPr>
        <p:spPr>
          <a:xfrm>
            <a:off x="11518603" y="6509004"/>
            <a:ext cx="619051" cy="274320"/>
          </a:xfrm>
        </p:spPr>
        <p:txBody>
          <a:bodyPr vert="horz" rtlCol="0"/>
          <a:lstStyle>
            <a:lvl1pPr>
              <a:defRPr>
                <a:solidFill>
                  <a:schemeClr val="tx2">
                    <a:shade val="90000"/>
                  </a:schemeClr>
                </a:solidFill>
              </a:defRPr>
            </a:lvl1pPr>
            <a:extLst/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Footer Placeholder 11"/>
          <p:cNvSpPr>
            <a:spLocks noGrp="1"/>
          </p:cNvSpPr>
          <p:nvPr>
            <p:ph type="ftr" sz="quarter" idx="12"/>
          </p:nvPr>
        </p:nvSpPr>
        <p:spPr>
          <a:xfrm>
            <a:off x="2133600" y="6509004"/>
            <a:ext cx="5209952" cy="274320"/>
          </a:xfrm>
        </p:spPr>
        <p:txBody>
          <a:bodyPr vert="horz" rtlCol="0"/>
          <a:lstStyle>
            <a:extLst/>
          </a:lstStyle>
          <a:p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784523" y="1424588"/>
            <a:ext cx="10668000" cy="9144"/>
          </a:xfrm>
          <a:prstGeom prst="rect">
            <a:avLst/>
          </a:prstGeom>
          <a:solidFill>
            <a:schemeClr val="accent1"/>
          </a:solidFill>
          <a:ln w="38100" cap="rnd" cmpd="sng" algn="ctr">
            <a:noFill/>
            <a:prstDash val="solid"/>
          </a:ln>
          <a:effectLst>
            <a:outerShdw blurRad="12700" dist="12900" dir="5400000" algn="tl" rotWithShape="0">
              <a:srgbClr val="000000">
                <a:alpha val="75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333504" y="3267456"/>
            <a:ext cx="9875520" cy="9144"/>
          </a:xfrm>
          <a:prstGeom prst="rect">
            <a:avLst/>
          </a:prstGeom>
          <a:solidFill>
            <a:schemeClr val="accent1"/>
          </a:solidFill>
          <a:ln w="38100" cap="rnd" cmpd="sng" algn="ctr">
            <a:noFill/>
            <a:prstDash val="solid"/>
          </a:ln>
          <a:effectLst>
            <a:outerShdw blurRad="12700" dist="12900" dir="5400000" algn="tl" rotWithShape="0">
              <a:srgbClr val="000000">
                <a:alpha val="75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168" y="498230"/>
            <a:ext cx="10363200" cy="2731008"/>
          </a:xfrm>
        </p:spPr>
        <p:txBody>
          <a:bodyPr rIns="100584"/>
          <a:lstStyle>
            <a:lvl1pPr algn="r">
              <a:buNone/>
              <a:defRPr sz="4000" b="1" cap="none">
                <a:solidFill>
                  <a:schemeClr val="accent1">
                    <a:tint val="95000"/>
                    <a:satMod val="200000"/>
                  </a:schemeClr>
                </a:solidFill>
              </a:defRPr>
            </a:lvl1pPr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3287713"/>
            <a:ext cx="10363200" cy="1509712"/>
          </a:xfrm>
        </p:spPr>
        <p:txBody>
          <a:bodyPr rIns="128016" anchor="t"/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>
          <a:xfrm>
            <a:off x="7416800" y="6513670"/>
            <a:ext cx="4003040" cy="274320"/>
          </a:xfrm>
        </p:spPr>
        <p:txBody>
          <a:bodyPr vert="horz" rtlCol="0"/>
          <a:lstStyle>
            <a:extLst/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1"/>
          </p:nvPr>
        </p:nvSpPr>
        <p:spPr>
          <a:xfrm>
            <a:off x="11518603" y="6513670"/>
            <a:ext cx="619051" cy="274320"/>
          </a:xfrm>
        </p:spPr>
        <p:txBody>
          <a:bodyPr vert="horz" rtlCol="0"/>
          <a:lstStyle>
            <a:lvl1pPr>
              <a:defRPr>
                <a:solidFill>
                  <a:schemeClr val="tx2">
                    <a:shade val="90000"/>
                  </a:schemeClr>
                </a:solidFill>
              </a:defRPr>
            </a:lvl1pPr>
            <a:extLst/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2"/>
          </p:nvPr>
        </p:nvSpPr>
        <p:spPr>
          <a:xfrm>
            <a:off x="2133600" y="6513670"/>
            <a:ext cx="5209952" cy="274320"/>
          </a:xfrm>
        </p:spPr>
        <p:txBody>
          <a:bodyPr vert="horz" rtlCol="0"/>
          <a:lstStyle>
            <a:extLst/>
          </a:lstStyle>
          <a:p>
            <a:endParaRPr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45920"/>
            <a:ext cx="5384800" cy="452628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45920"/>
            <a:ext cx="5384800" cy="452628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521440" y="6514568"/>
            <a:ext cx="619051" cy="274320"/>
          </a:xfrm>
        </p:spPr>
        <p:txBody>
          <a:bodyPr/>
          <a:lstStyle>
            <a:extLst/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784523" y="1424588"/>
            <a:ext cx="10668000" cy="9144"/>
          </a:xfrm>
          <a:prstGeom prst="rect">
            <a:avLst/>
          </a:prstGeom>
          <a:solidFill>
            <a:schemeClr val="accent1"/>
          </a:solidFill>
          <a:ln w="38100" cap="rnd" cmpd="sng" algn="ctr">
            <a:noFill/>
            <a:prstDash val="solid"/>
          </a:ln>
          <a:effectLst>
            <a:outerShdw blurRad="12700" dist="12900" dir="5400000" algn="tl" rotWithShape="0">
              <a:srgbClr val="000000">
                <a:alpha val="75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822325" y="2165216"/>
            <a:ext cx="4998720" cy="9144"/>
          </a:xfrm>
          <a:prstGeom prst="rect">
            <a:avLst/>
          </a:prstGeom>
          <a:solidFill>
            <a:schemeClr val="accent1"/>
          </a:solidFill>
          <a:ln w="38100" cap="rnd" cmpd="sng" algn="ctr">
            <a:noFill/>
            <a:prstDash val="solid"/>
          </a:ln>
          <a:effectLst>
            <a:outerShdw blurRad="12700" dist="12900" dir="5400000" algn="tl" rotWithShape="0">
              <a:srgbClr val="000000">
                <a:alpha val="75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b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11" name="Rectangle 10"/>
          <p:cNvSpPr/>
          <p:nvPr/>
        </p:nvSpPr>
        <p:spPr>
          <a:xfrm>
            <a:off x="6400800" y="2165216"/>
            <a:ext cx="4998720" cy="9144"/>
          </a:xfrm>
          <a:prstGeom prst="rect">
            <a:avLst/>
          </a:prstGeom>
          <a:solidFill>
            <a:schemeClr val="accent1"/>
          </a:solidFill>
          <a:ln w="38100" cap="rnd" cmpd="sng" algn="ctr">
            <a:noFill/>
            <a:prstDash val="solid"/>
          </a:ln>
          <a:effectLst>
            <a:outerShdw blurRad="12700" dist="12900" dir="5400000" algn="tl" rotWithShape="0">
              <a:srgbClr val="000000">
                <a:alpha val="75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b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51948"/>
            <a:ext cx="10972800" cy="1143000"/>
          </a:xfrm>
        </p:spPr>
        <p:txBody>
          <a:bodyPr anchor="b"/>
          <a:lstStyle>
            <a:lvl1pPr>
              <a:defRPr/>
            </a:lvl1pPr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>
            <a:noAutofit/>
          </a:bodyPr>
          <a:lstStyle>
            <a:lvl1pPr marL="91440" indent="0" algn="l">
              <a:spcBef>
                <a:spcPts val="0"/>
              </a:spcBef>
              <a:buNone/>
              <a:defRPr sz="2200" b="0" cap="all" baseline="0"/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3"/>
          </p:nvPr>
        </p:nvSpPr>
        <p:spPr>
          <a:xfrm>
            <a:off x="6193368" y="1535113"/>
            <a:ext cx="5389033" cy="639762"/>
          </a:xfrm>
        </p:spPr>
        <p:txBody>
          <a:bodyPr anchor="b">
            <a:noAutofit/>
          </a:bodyPr>
          <a:lstStyle>
            <a:lvl1pPr marL="91440" indent="0" algn="l">
              <a:spcBef>
                <a:spcPts val="0"/>
              </a:spcBef>
              <a:buNone/>
              <a:defRPr sz="2200" b="0" cap="all" baseline="0"/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2"/>
          </p:nvPr>
        </p:nvSpPr>
        <p:spPr>
          <a:xfrm>
            <a:off x="609600" y="2362201"/>
            <a:ext cx="5386917" cy="3941763"/>
          </a:xfrm>
        </p:spPr>
        <p:txBody>
          <a:bodyPr lIns="91440"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362201"/>
            <a:ext cx="5389033" cy="3941763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521440" y="6514568"/>
            <a:ext cx="619051" cy="274320"/>
          </a:xfrm>
        </p:spPr>
        <p:txBody>
          <a:bodyPr/>
          <a:lstStyle>
            <a:extLst/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53218"/>
            <a:ext cx="10972800" cy="1143000"/>
          </a:xfrm>
        </p:spPr>
        <p:txBody>
          <a:bodyPr/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784523" y="1424588"/>
            <a:ext cx="10668000" cy="9144"/>
          </a:xfrm>
          <a:prstGeom prst="rect">
            <a:avLst/>
          </a:prstGeom>
          <a:solidFill>
            <a:schemeClr val="accent1"/>
          </a:solidFill>
          <a:ln w="38100" cap="rnd" cmpd="sng" algn="ctr">
            <a:noFill/>
            <a:prstDash val="solid"/>
          </a:ln>
          <a:effectLst>
            <a:outerShdw blurRad="12700" dist="12900" dir="5400000" algn="tl" rotWithShape="0">
              <a:srgbClr val="000000">
                <a:alpha val="75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6743403" y="1057656"/>
            <a:ext cx="4998720" cy="9144"/>
          </a:xfrm>
          <a:prstGeom prst="rect">
            <a:avLst/>
          </a:prstGeom>
          <a:solidFill>
            <a:schemeClr val="accent1"/>
          </a:solidFill>
          <a:ln w="38100" cap="rnd" cmpd="sng" algn="ctr">
            <a:noFill/>
            <a:prstDash val="solid"/>
          </a:ln>
          <a:effectLst>
            <a:outerShdw blurRad="12700" dist="12900" dir="5400000" algn="tl" rotWithShape="0">
              <a:srgbClr val="000000">
                <a:alpha val="75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17515" y="304800"/>
            <a:ext cx="5242560" cy="762000"/>
          </a:xfrm>
        </p:spPr>
        <p:txBody>
          <a:bodyPr anchor="b"/>
          <a:lstStyle>
            <a:lvl1pPr marL="0" algn="r">
              <a:buNone/>
              <a:defRPr sz="2000" b="1"/>
            </a:lvl1pPr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6617515" y="1107560"/>
            <a:ext cx="5242560" cy="1066800"/>
          </a:xfrm>
        </p:spPr>
        <p:txBody>
          <a:bodyPr/>
          <a:lstStyle>
            <a:lvl1pPr marL="0" indent="0" algn="r">
              <a:spcBef>
                <a:spcPts val="0"/>
              </a:spcBef>
              <a:buNone/>
              <a:defRPr sz="1400"/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304800" y="2209800"/>
            <a:ext cx="11555275" cy="3977640"/>
          </a:xfrm>
        </p:spPr>
        <p:txBody>
          <a:bodyPr/>
          <a:lstStyle>
            <a:lvl1pPr marL="292608">
              <a:defRPr sz="3200"/>
            </a:lvl1pPr>
            <a:lvl2pPr marL="594360">
              <a:defRPr sz="2800"/>
            </a:lvl2pPr>
            <a:lvl3pPr marL="822960">
              <a:defRPr sz="2400"/>
            </a:lvl3pPr>
            <a:lvl4pPr marL="1051560">
              <a:defRPr sz="2000"/>
            </a:lvl4pPr>
            <a:lvl5pPr marL="1261872">
              <a:defRPr sz="2000"/>
            </a:lvl5pPr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>
          <a:xfrm>
            <a:off x="7416800" y="6513670"/>
            <a:ext cx="4003040" cy="274320"/>
          </a:xfrm>
        </p:spPr>
        <p:txBody>
          <a:bodyPr vert="horz" rtlCol="0"/>
          <a:lstStyle>
            <a:extLst/>
          </a:lstStyle>
          <a:p>
            <a:endParaRPr 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1"/>
          </p:nvPr>
        </p:nvSpPr>
        <p:spPr>
          <a:xfrm>
            <a:off x="11518603" y="6513670"/>
            <a:ext cx="619051" cy="274320"/>
          </a:xfrm>
        </p:spPr>
        <p:txBody>
          <a:bodyPr vert="horz" rtlCol="0"/>
          <a:lstStyle>
            <a:lvl1pPr>
              <a:defRPr>
                <a:solidFill>
                  <a:schemeClr val="tx2">
                    <a:shade val="90000"/>
                  </a:schemeClr>
                </a:solidFill>
              </a:defRPr>
            </a:lvl1pPr>
            <a:extLst/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Footer Placeholder 10"/>
          <p:cNvSpPr>
            <a:spLocks noGrp="1"/>
          </p:cNvSpPr>
          <p:nvPr>
            <p:ph type="ftr" sz="quarter" idx="12"/>
          </p:nvPr>
        </p:nvSpPr>
        <p:spPr>
          <a:xfrm>
            <a:off x="2133600" y="6513670"/>
            <a:ext cx="5209952" cy="274320"/>
          </a:xfrm>
        </p:spPr>
        <p:txBody>
          <a:bodyPr vert="horz" rtlCol="0"/>
          <a:lstStyle>
            <a:extLst/>
          </a:lstStyle>
          <a:p>
            <a:endParaRPr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053924" y="4724400"/>
            <a:ext cx="7315200" cy="664536"/>
          </a:xfrm>
        </p:spPr>
        <p:txBody>
          <a:bodyPr anchor="b"/>
          <a:lstStyle>
            <a:lvl1pPr marL="0" algn="r">
              <a:buNone/>
              <a:defRPr sz="2000" b="1"/>
            </a:lvl1pPr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053924" y="5388937"/>
            <a:ext cx="7315200" cy="912255"/>
          </a:xfrm>
        </p:spPr>
        <p:txBody>
          <a:bodyPr/>
          <a:lstStyle>
            <a:lvl1pPr marL="0" indent="0" algn="r">
              <a:spcBef>
                <a:spcPts val="0"/>
              </a:spcBef>
              <a:buNone/>
              <a:defRPr sz="14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13" name="Picture Placeholder 12"/>
          <p:cNvSpPr>
            <a:spLocks noGrp="1"/>
          </p:cNvSpPr>
          <p:nvPr>
            <p:ph type="pic" idx="1"/>
          </p:nvPr>
        </p:nvSpPr>
        <p:spPr>
          <a:xfrm>
            <a:off x="406400" y="249864"/>
            <a:ext cx="11379200" cy="4343400"/>
          </a:xfrm>
          <a:prstGeom prst="round2DiagRect">
            <a:avLst>
              <a:gd name="adj1" fmla="val 11403"/>
              <a:gd name="adj2" fmla="val 0"/>
            </a:avLst>
          </a:prstGeom>
          <a:solidFill>
            <a:schemeClr val="bg2">
              <a:tint val="85000"/>
              <a:shade val="90000"/>
              <a:satMod val="150000"/>
              <a:alpha val="65000"/>
            </a:schemeClr>
          </a:solidFill>
          <a:ln w="11000" cap="rnd" cmpd="sng" algn="ctr">
            <a:solidFill>
              <a:schemeClr val="bg2">
                <a:tint val="78000"/>
                <a:satMod val="180000"/>
                <a:alpha val="88000"/>
              </a:schemeClr>
            </a:solidFill>
            <a:prstDash val="solid"/>
          </a:ln>
          <a:effectLst>
            <a:innerShdw blurRad="114300">
              <a:srgbClr val="000000">
                <a:alpha val="100000"/>
              </a:srgbClr>
            </a:inn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/>
          <a:lstStyle>
            <a:lvl1pPr indent="0">
              <a:buNone/>
              <a:defRPr sz="3200"/>
            </a:lvl1pPr>
            <a:extLst/>
          </a:lstStyle>
          <a:p>
            <a:pPr marL="0" algn="l" rtl="0" eaLnBrk="1" latinLnBrk="0" hangingPunct="1"/>
            <a:r>
              <a:rPr kumimoji="0" lang="en-US" smtClean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Click icon to add picture</a:t>
            </a:r>
            <a:endParaRPr kumimoji="0" lang="en-US" dirty="0">
              <a:solidFill>
                <a:schemeClr val="lt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>
          <a:xfrm>
            <a:off x="7416800" y="6509004"/>
            <a:ext cx="4003040" cy="274320"/>
          </a:xfrm>
        </p:spPr>
        <p:txBody>
          <a:bodyPr vert="horz" rtlCol="0"/>
          <a:lstStyle>
            <a:extLst/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1"/>
          </p:nvPr>
        </p:nvSpPr>
        <p:spPr>
          <a:xfrm>
            <a:off x="11518603" y="6509004"/>
            <a:ext cx="619051" cy="274320"/>
          </a:xfrm>
        </p:spPr>
        <p:txBody>
          <a:bodyPr vert="horz" rtlCol="0"/>
          <a:lstStyle>
            <a:lvl1pPr>
              <a:defRPr>
                <a:solidFill>
                  <a:schemeClr val="tx2">
                    <a:shade val="90000"/>
                  </a:schemeClr>
                </a:solidFill>
              </a:defRPr>
            </a:lvl1pPr>
            <a:extLst/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2"/>
          </p:nvPr>
        </p:nvSpPr>
        <p:spPr>
          <a:xfrm>
            <a:off x="2133600" y="6509004"/>
            <a:ext cx="5209952" cy="274320"/>
          </a:xfrm>
        </p:spPr>
        <p:txBody>
          <a:bodyPr vert="horz" rtlCol="0"/>
          <a:lstStyle>
            <a:extLst/>
          </a:lstStyle>
          <a:p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>
            <a:lvl1pPr algn="l">
              <a:defRPr/>
            </a:lvl1pPr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ound Diagonal Corner Rectangle 6"/>
          <p:cNvSpPr/>
          <p:nvPr/>
        </p:nvSpPr>
        <p:spPr>
          <a:xfrm>
            <a:off x="219456" y="147085"/>
            <a:ext cx="11747795" cy="6565392"/>
          </a:xfrm>
          <a:prstGeom prst="round2DiagRect">
            <a:avLst>
              <a:gd name="adj1" fmla="val 11807"/>
              <a:gd name="adj2" fmla="val 0"/>
            </a:avLst>
          </a:prstGeom>
          <a:solidFill>
            <a:schemeClr val="bg2">
              <a:tint val="85000"/>
              <a:shade val="90000"/>
              <a:satMod val="150000"/>
              <a:alpha val="65000"/>
            </a:schemeClr>
          </a:solidFill>
          <a:ln w="11000" cap="rnd" cmpd="sng" algn="ctr">
            <a:solidFill>
              <a:schemeClr val="bg2">
                <a:tint val="78000"/>
                <a:satMod val="180000"/>
                <a:alpha val="88000"/>
              </a:schemeClr>
            </a:solidFill>
            <a:prstDash val="solid"/>
          </a:ln>
          <a:effectLst>
            <a:innerShdw blurRad="114300">
              <a:srgbClr val="000000">
                <a:alpha val="100000"/>
              </a:srgbClr>
            </a:inn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3"/>
          </p:nvPr>
        </p:nvSpPr>
        <p:spPr>
          <a:xfrm>
            <a:off x="1727200" y="6400800"/>
            <a:ext cx="5616352" cy="274320"/>
          </a:xfrm>
          <a:prstGeom prst="rect">
            <a:avLst/>
          </a:prstGeom>
        </p:spPr>
        <p:txBody>
          <a:bodyPr/>
          <a:lstStyle>
            <a:lvl1pPr algn="r" eaLnBrk="1" latinLnBrk="0" hangingPunct="1">
              <a:defRPr kumimoji="0" sz="1300">
                <a:solidFill>
                  <a:schemeClr val="bg2">
                    <a:tint val="60000"/>
                    <a:satMod val="155000"/>
                  </a:schemeClr>
                </a:solidFill>
              </a:defRPr>
            </a:lvl1pPr>
            <a:extLst/>
          </a:lstStyle>
          <a:p>
            <a:endParaRPr lang="en-US"/>
          </a:p>
        </p:txBody>
      </p:sp>
      <p:sp>
        <p:nvSpPr>
          <p:cNvPr id="14" name="Date Placeholder 13"/>
          <p:cNvSpPr>
            <a:spLocks noGrp="1"/>
          </p:cNvSpPr>
          <p:nvPr>
            <p:ph type="dt" sz="half" idx="2"/>
          </p:nvPr>
        </p:nvSpPr>
        <p:spPr>
          <a:xfrm>
            <a:off x="7416800" y="6400800"/>
            <a:ext cx="4003040" cy="274320"/>
          </a:xfrm>
          <a:prstGeom prst="rect">
            <a:avLst/>
          </a:prstGeom>
        </p:spPr>
        <p:txBody>
          <a:bodyPr/>
          <a:lstStyle>
            <a:lvl1pPr algn="l" eaLnBrk="1" latinLnBrk="0" hangingPunct="1">
              <a:defRPr kumimoji="0" sz="1300">
                <a:solidFill>
                  <a:schemeClr val="bg2">
                    <a:tint val="60000"/>
                    <a:satMod val="155000"/>
                  </a:schemeClr>
                </a:solidFill>
              </a:defRPr>
            </a:lvl1pPr>
            <a:extLst/>
          </a:lstStyle>
          <a:p>
            <a:endParaRPr lang="en-US"/>
          </a:p>
        </p:txBody>
      </p:sp>
      <p:sp>
        <p:nvSpPr>
          <p:cNvPr id="23" name="Slide Number Placeholder 22"/>
          <p:cNvSpPr>
            <a:spLocks noGrp="1"/>
          </p:cNvSpPr>
          <p:nvPr>
            <p:ph type="sldNum" sz="quarter" idx="4"/>
          </p:nvPr>
        </p:nvSpPr>
        <p:spPr>
          <a:xfrm>
            <a:off x="11518603" y="6514568"/>
            <a:ext cx="619051" cy="274320"/>
          </a:xfrm>
          <a:prstGeom prst="rect">
            <a:avLst/>
          </a:prstGeom>
        </p:spPr>
        <p:txBody>
          <a:bodyPr anchor="ctr"/>
          <a:lstStyle>
            <a:lvl1pPr algn="r" eaLnBrk="1" latinLnBrk="0" hangingPunct="1">
              <a:defRPr kumimoji="0" sz="1600">
                <a:solidFill>
                  <a:schemeClr val="tx2">
                    <a:shade val="90000"/>
                  </a:schemeClr>
                </a:solidFill>
                <a:effectLst/>
              </a:defRPr>
            </a:lvl1pPr>
            <a:extLst/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sp>
        <p:nvSpPr>
          <p:cNvPr id="22" name="Title Placeholder 21"/>
          <p:cNvSpPr>
            <a:spLocks noGrp="1"/>
          </p:cNvSpPr>
          <p:nvPr>
            <p:ph type="title"/>
          </p:nvPr>
        </p:nvSpPr>
        <p:spPr>
          <a:xfrm>
            <a:off x="609600" y="253536"/>
            <a:ext cx="10972800" cy="1143000"/>
          </a:xfrm>
          <a:prstGeom prst="rect">
            <a:avLst/>
          </a:prstGeom>
        </p:spPr>
        <p:txBody>
          <a:bodyPr rIns="91440" anchor="b">
            <a:normAutofit/>
            <a:scene3d>
              <a:camera prst="orthographicFront"/>
              <a:lightRig rig="soft" dir="t">
                <a:rot lat="0" lon="0" rev="2400000"/>
              </a:lightRig>
            </a:scene3d>
            <a:sp3d>
              <a:bevelT w="19050" h="12700"/>
            </a:sp3d>
          </a:bodyPr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13" name="Text Placeholder 12"/>
          <p:cNvSpPr>
            <a:spLocks noGrp="1"/>
          </p:cNvSpPr>
          <p:nvPr>
            <p:ph type="body" idx="1"/>
          </p:nvPr>
        </p:nvSpPr>
        <p:spPr>
          <a:xfrm>
            <a:off x="609600" y="1646237"/>
            <a:ext cx="10972800" cy="4526280"/>
          </a:xfrm>
          <a:prstGeom prst="rect">
            <a:avLst/>
          </a:prstGeom>
        </p:spPr>
        <p:txBody>
          <a:bodyPr>
            <a:normAutofit/>
          </a:bodyPr>
          <a:lstStyle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  <a:p>
            <a:pPr lvl="1" eaLnBrk="1" latinLnBrk="0" hangingPunct="1"/>
            <a:r>
              <a:rPr kumimoji="0" lang="en-US" smtClean="0"/>
              <a:t>Second level</a:t>
            </a:r>
          </a:p>
          <a:p>
            <a:pPr lvl="2" eaLnBrk="1" latinLnBrk="0" hangingPunct="1"/>
            <a:r>
              <a:rPr kumimoji="0" lang="en-US" smtClean="0"/>
              <a:t>Third level</a:t>
            </a:r>
          </a:p>
          <a:p>
            <a:pPr lvl="3" eaLnBrk="1" latinLnBrk="0" hangingPunct="1"/>
            <a:r>
              <a:rPr kumimoji="0" lang="en-US" smtClean="0"/>
              <a:t>Fourth level</a:t>
            </a:r>
          </a:p>
          <a:p>
            <a:pPr lvl="4" eaLnBrk="1" latinLnBrk="0" hangingPunct="1"/>
            <a:r>
              <a:rPr kumimoji="0" lang="en-US" smtClean="0"/>
              <a:t>Fifth level</a:t>
            </a:r>
            <a:endParaRPr kumimoji="0" lang="en-US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sldNum="0" hdr="0" ftr="0" dt="0"/>
  <p:txStyles>
    <p:titleStyle>
      <a:lvl1pPr marL="54864" algn="r" rtl="0" eaLnBrk="1" latinLnBrk="0" hangingPunct="1">
        <a:spcBef>
          <a:spcPct val="0"/>
        </a:spcBef>
        <a:buNone/>
        <a:defRPr kumimoji="0" sz="4600" kern="1200">
          <a:solidFill>
            <a:schemeClr val="tx2">
              <a:tint val="100000"/>
              <a:shade val="90000"/>
              <a:satMod val="250000"/>
              <a:alpha val="100000"/>
            </a:schemeClr>
          </a:solidFill>
          <a:effectLst>
            <a:outerShdw blurRad="38100" dist="25500" dir="5400000" algn="tl" rotWithShape="0">
              <a:srgbClr val="000000">
                <a:satMod val="180000"/>
                <a:alpha val="75000"/>
              </a:srgbClr>
            </a:outerShdw>
          </a:effectLst>
          <a:latin typeface="+mj-lt"/>
          <a:ea typeface="+mj-ea"/>
          <a:cs typeface="+mj-cs"/>
        </a:defRPr>
      </a:lvl1pPr>
      <a:extLst/>
    </p:titleStyle>
    <p:bodyStyle>
      <a:lvl1pPr marL="292100" indent="-292100" algn="l" rtl="0" eaLnBrk="1" latinLnBrk="0" hangingPunct="1">
        <a:spcBef>
          <a:spcPts val="0"/>
        </a:spcBef>
        <a:buClr>
          <a:schemeClr val="accent1"/>
        </a:buClr>
        <a:buSzPct val="70000"/>
        <a:buFont typeface="Wingdings 2"/>
        <a:buChar char=""/>
        <a:defRPr kumimoji="0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indent="-228600" algn="l" rtl="0" eaLnBrk="1" latinLnBrk="0" hangingPunct="1">
        <a:spcBef>
          <a:spcPts val="400"/>
        </a:spcBef>
        <a:buClr>
          <a:schemeClr val="accent2"/>
        </a:buClr>
        <a:buSzPct val="90000"/>
        <a:buFontTx/>
        <a:buChar char="•"/>
        <a:defRPr kumimoji="0" sz="2600" kern="1200">
          <a:solidFill>
            <a:schemeClr val="tx1"/>
          </a:solidFill>
          <a:latin typeface="+mn-lt"/>
          <a:ea typeface="+mn-ea"/>
          <a:cs typeface="+mn-cs"/>
        </a:defRPr>
      </a:lvl2pPr>
      <a:lvl3pPr marL="822960" indent="-192024" algn="l" rtl="0" eaLnBrk="1" latinLnBrk="0" hangingPunct="1">
        <a:spcBef>
          <a:spcPts val="400"/>
        </a:spcBef>
        <a:buClr>
          <a:schemeClr val="accent3"/>
        </a:buClr>
        <a:buSzPct val="100000"/>
        <a:buFont typeface="Wingdings 2"/>
        <a:buChar char=""/>
        <a:defRPr kumimoji="0" sz="23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rtl="0" eaLnBrk="1" latinLnBrk="0" hangingPunct="1">
        <a:spcBef>
          <a:spcPts val="400"/>
        </a:spcBef>
        <a:buClr>
          <a:schemeClr val="accent3"/>
        </a:buClr>
        <a:buSzPct val="100000"/>
        <a:buFont typeface="Wingdings 2"/>
        <a:buChar char="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188720" indent="-182880" algn="l" rtl="0" eaLnBrk="1" latinLnBrk="0" hangingPunct="1">
        <a:spcBef>
          <a:spcPts val="400"/>
        </a:spcBef>
        <a:buClr>
          <a:schemeClr val="accent3"/>
        </a:buClr>
        <a:buSzPct val="100000"/>
        <a:buFont typeface="Wingdings 2"/>
        <a:buChar char=""/>
        <a:defRPr kumimoji="0" sz="1900" kern="1200">
          <a:solidFill>
            <a:schemeClr val="tx1"/>
          </a:solidFill>
          <a:latin typeface="+mn-lt"/>
          <a:ea typeface="+mn-ea"/>
          <a:cs typeface="+mn-cs"/>
        </a:defRPr>
      </a:lvl5pPr>
      <a:lvl6pPr marL="1371600" indent="-173736" algn="l" rtl="0" eaLnBrk="1" latinLnBrk="0" hangingPunct="1">
        <a:spcBef>
          <a:spcPts val="400"/>
        </a:spcBef>
        <a:buClr>
          <a:schemeClr val="accent4"/>
        </a:buClr>
        <a:buFont typeface="Wingdings 2"/>
        <a:buChar char=""/>
        <a:defRPr kumimoji="0" sz="18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1554480" indent="-173736" algn="l" rtl="0" eaLnBrk="1" latinLnBrk="0" hangingPunct="1">
        <a:spcBef>
          <a:spcPts val="400"/>
        </a:spcBef>
        <a:buClr>
          <a:schemeClr val="accent4"/>
        </a:buClr>
        <a:buFont typeface="Wingdings 2"/>
        <a:buChar char=""/>
        <a:defRPr kumimoji="0" sz="16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1737360" indent="-173736" algn="l" rtl="0" eaLnBrk="1" latinLnBrk="0" hangingPunct="1">
        <a:spcBef>
          <a:spcPts val="400"/>
        </a:spcBef>
        <a:buClr>
          <a:schemeClr val="accent4"/>
        </a:buClr>
        <a:buFont typeface="Wingdings 2"/>
        <a:buChar char=""/>
        <a:defRPr kumimoji="0"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920240" indent="-173736" algn="l" rtl="0" eaLnBrk="1" latinLnBrk="0" hangingPunct="1">
        <a:spcBef>
          <a:spcPts val="400"/>
        </a:spcBef>
        <a:buClr>
          <a:schemeClr val="accent4"/>
        </a:buClr>
        <a:buFont typeface="Wingdings 2"/>
        <a:buChar char=""/>
        <a:defRPr kumimoji="0" sz="1600" kern="1200" baseline="0">
          <a:solidFill>
            <a:schemeClr val="tx1"/>
          </a:solidFill>
          <a:latin typeface="+mn-lt"/>
          <a:ea typeface="+mn-ea"/>
          <a:cs typeface="+mn-cs"/>
        </a:defRPr>
      </a:lvl9pPr>
      <a:extLst/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  <a:extLst/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2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1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2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11" Type="http://schemas.openxmlformats.org/officeDocument/2006/relationships/image" Target="../media/image21.png"/><Relationship Id="rId5" Type="http://schemas.openxmlformats.org/officeDocument/2006/relationships/image" Target="../media/image8.png"/><Relationship Id="rId10" Type="http://schemas.openxmlformats.org/officeDocument/2006/relationships/image" Target="../media/image20.png"/><Relationship Id="rId4" Type="http://schemas.openxmlformats.org/officeDocument/2006/relationships/image" Target="../media/image7.png"/><Relationship Id="rId9" Type="http://schemas.openxmlformats.org/officeDocument/2006/relationships/image" Target="../media/image19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2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22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12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12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26.png"/><Relationship Id="rId9" Type="http://schemas.openxmlformats.org/officeDocument/2006/relationships/image" Target="../media/image29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12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31.png"/><Relationship Id="rId10" Type="http://schemas.openxmlformats.org/officeDocument/2006/relationships/image" Target="../media/image34.png"/><Relationship Id="rId4" Type="http://schemas.openxmlformats.org/officeDocument/2006/relationships/image" Target="../media/image30.png"/><Relationship Id="rId9" Type="http://schemas.openxmlformats.org/officeDocument/2006/relationships/image" Target="../media/image33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12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3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3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3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3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3" Type="http://schemas.openxmlformats.org/officeDocument/2006/relationships/image" Target="../media/image12.png"/><Relationship Id="rId7" Type="http://schemas.openxmlformats.org/officeDocument/2006/relationships/image" Target="../media/image45.png"/><Relationship Id="rId12" Type="http://schemas.openxmlformats.org/officeDocument/2006/relationships/image" Target="../media/image5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4.png"/><Relationship Id="rId11" Type="http://schemas.openxmlformats.org/officeDocument/2006/relationships/image" Target="../media/image49.png"/><Relationship Id="rId5" Type="http://schemas.openxmlformats.org/officeDocument/2006/relationships/image" Target="../media/image8.png"/><Relationship Id="rId10" Type="http://schemas.openxmlformats.org/officeDocument/2006/relationships/image" Target="../media/image48.png"/><Relationship Id="rId4" Type="http://schemas.openxmlformats.org/officeDocument/2006/relationships/image" Target="../media/image7.png"/><Relationship Id="rId9" Type="http://schemas.openxmlformats.org/officeDocument/2006/relationships/image" Target="../media/image47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.png"/><Relationship Id="rId3" Type="http://schemas.openxmlformats.org/officeDocument/2006/relationships/image" Target="../media/image12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52.png"/><Relationship Id="rId10" Type="http://schemas.openxmlformats.org/officeDocument/2006/relationships/image" Target="../media/image14.png"/><Relationship Id="rId4" Type="http://schemas.openxmlformats.org/officeDocument/2006/relationships/image" Target="../media/image51.png"/><Relationship Id="rId9" Type="http://schemas.openxmlformats.org/officeDocument/2006/relationships/image" Target="../media/image54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3" Type="http://schemas.openxmlformats.org/officeDocument/2006/relationships/image" Target="../media/image12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5.png"/><Relationship Id="rId4" Type="http://schemas.openxmlformats.org/officeDocument/2006/relationships/image" Target="../media/image6.png"/><Relationship Id="rId9" Type="http://schemas.openxmlformats.org/officeDocument/2006/relationships/image" Target="../media/image5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-1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13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200400" y="4340572"/>
            <a:ext cx="5791200" cy="1165770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3"/>
          <p:cNvSpPr txBox="1"/>
          <p:nvPr/>
        </p:nvSpPr>
        <p:spPr>
          <a:xfrm>
            <a:off x="2990611" y="2006950"/>
            <a:ext cx="6210776" cy="12926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200" b="0" i="0" u="none" strike="noStrike" cap="none" dirty="0">
                <a:solidFill>
                  <a:srgbClr val="FFFFFF"/>
                </a:solidFill>
                <a:latin typeface="Roboto Black"/>
                <a:ea typeface="Roboto Black"/>
                <a:cs typeface="Roboto Black"/>
                <a:sym typeface="Roboto Black"/>
              </a:rPr>
              <a:t>XÂY DỰNG WEBSITE</a:t>
            </a:r>
            <a: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/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4200" b="0" i="0" u="none" strike="noStrike" cap="none" dirty="0">
                <a:solidFill>
                  <a:srgbClr val="FFFFFF"/>
                </a:solidFill>
                <a:latin typeface="Roboto Black"/>
                <a:ea typeface="Roboto Black"/>
                <a:cs typeface="Roboto Black"/>
                <a:sym typeface="Roboto Black"/>
              </a:rPr>
              <a:t> BÁN ÁO THUN IN HÌNH</a:t>
            </a:r>
            <a:endParaRPr dirty="0"/>
          </a:p>
        </p:txBody>
      </p:sp>
      <p:sp>
        <p:nvSpPr>
          <p:cNvPr id="88" name="Google Shape;88;p13"/>
          <p:cNvSpPr txBox="1"/>
          <p:nvPr/>
        </p:nvSpPr>
        <p:spPr>
          <a:xfrm>
            <a:off x="4856796" y="3359498"/>
            <a:ext cx="2764099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0" i="0" u="none" strike="noStrike" cap="none" dirty="0" err="1">
                <a:solidFill>
                  <a:srgbClr val="F59E0B"/>
                </a:solidFill>
                <a:latin typeface="Open Sans Light"/>
                <a:ea typeface="Open Sans Light"/>
                <a:cs typeface="Open Sans Light"/>
                <a:sym typeface="Open Sans Light"/>
              </a:rPr>
              <a:t>Mytee</a:t>
            </a:r>
            <a:r>
              <a:rPr lang="en-US" sz="2800" b="0" i="0" u="none" strike="noStrike" cap="none" dirty="0">
                <a:solidFill>
                  <a:srgbClr val="F59E0B"/>
                </a:solidFill>
                <a:latin typeface="Open Sans Light"/>
                <a:ea typeface="Open Sans Light"/>
                <a:cs typeface="Open Sans Light"/>
                <a:sym typeface="Open Sans Light"/>
              </a:rPr>
              <a:t> Studio</a:t>
            </a:r>
            <a:endParaRPr sz="2800" dirty="0"/>
          </a:p>
        </p:txBody>
      </p:sp>
      <p:sp>
        <p:nvSpPr>
          <p:cNvPr id="91" name="Google Shape;91;p13"/>
          <p:cNvSpPr txBox="1"/>
          <p:nvPr/>
        </p:nvSpPr>
        <p:spPr>
          <a:xfrm>
            <a:off x="3519492" y="1351662"/>
            <a:ext cx="5153025" cy="332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rgbClr val="CBD5E1"/>
                </a:solidFill>
                <a:latin typeface="Open Sans"/>
                <a:ea typeface="Open Sans"/>
                <a:cs typeface="Open Sans"/>
                <a:sym typeface="Open Sans"/>
              </a:rPr>
              <a:t>TRƯỜNG KỸ THUẬT VÀ CÔNG NGHỆ – KHOA CNTT</a:t>
            </a:r>
            <a:endParaRPr dirty="0"/>
          </a:p>
        </p:txBody>
      </p:sp>
      <p:sp>
        <p:nvSpPr>
          <p:cNvPr id="92" name="Google Shape;92;p13"/>
          <p:cNvSpPr/>
          <p:nvPr/>
        </p:nvSpPr>
        <p:spPr>
          <a:xfrm>
            <a:off x="6029328" y="4635847"/>
            <a:ext cx="9525" cy="575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13"/>
          <p:cNvSpPr txBox="1"/>
          <p:nvPr/>
        </p:nvSpPr>
        <p:spPr>
          <a:xfrm>
            <a:off x="3348322" y="4411058"/>
            <a:ext cx="2681007" cy="4924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 err="1" smtClean="0">
                <a:solidFill>
                  <a:srgbClr val="CBD5E1"/>
                </a:solidFill>
                <a:latin typeface="Arial" pitchFamily="34" charset="0"/>
                <a:ea typeface="Open Sans"/>
                <a:cs typeface="Arial" pitchFamily="34" charset="0"/>
                <a:sym typeface="Open Sans"/>
              </a:rPr>
              <a:t>Sinh</a:t>
            </a:r>
            <a:r>
              <a:rPr lang="en-US" sz="2000" dirty="0" smtClean="0">
                <a:solidFill>
                  <a:srgbClr val="CBD5E1"/>
                </a:solidFill>
                <a:latin typeface="Arial" pitchFamily="34" charset="0"/>
                <a:ea typeface="Open Sans"/>
                <a:cs typeface="Arial" pitchFamily="34" charset="0"/>
                <a:sym typeface="Open Sans"/>
              </a:rPr>
              <a:t> </a:t>
            </a:r>
            <a:r>
              <a:rPr lang="en-US" sz="2000" dirty="0" err="1" smtClean="0">
                <a:solidFill>
                  <a:srgbClr val="CBD5E1"/>
                </a:solidFill>
                <a:latin typeface="Arial" pitchFamily="34" charset="0"/>
                <a:ea typeface="Open Sans"/>
                <a:cs typeface="Arial" pitchFamily="34" charset="0"/>
                <a:sym typeface="Open Sans"/>
              </a:rPr>
              <a:t>viên</a:t>
            </a:r>
            <a:r>
              <a:rPr lang="en-US" sz="2000" dirty="0" smtClean="0">
                <a:solidFill>
                  <a:srgbClr val="CBD5E1"/>
                </a:solidFill>
                <a:latin typeface="Arial" pitchFamily="34" charset="0"/>
                <a:ea typeface="Open Sans"/>
                <a:cs typeface="Arial" pitchFamily="34" charset="0"/>
                <a:sym typeface="Open Sans"/>
              </a:rPr>
              <a:t> </a:t>
            </a:r>
            <a:r>
              <a:rPr lang="en-US" sz="2000" dirty="0" err="1" smtClean="0">
                <a:solidFill>
                  <a:srgbClr val="CBD5E1"/>
                </a:solidFill>
                <a:latin typeface="Arial" pitchFamily="34" charset="0"/>
                <a:ea typeface="Open Sans"/>
                <a:cs typeface="Arial" pitchFamily="34" charset="0"/>
                <a:sym typeface="Open Sans"/>
              </a:rPr>
              <a:t>thực</a:t>
            </a:r>
            <a:r>
              <a:rPr lang="en-US" sz="2000" dirty="0" smtClean="0">
                <a:solidFill>
                  <a:srgbClr val="CBD5E1"/>
                </a:solidFill>
                <a:latin typeface="Arial" pitchFamily="34" charset="0"/>
                <a:ea typeface="Open Sans"/>
                <a:cs typeface="Arial" pitchFamily="34" charset="0"/>
                <a:sym typeface="Open Sans"/>
              </a:rPr>
              <a:t> </a:t>
            </a:r>
            <a:r>
              <a:rPr lang="en-US" sz="2000" dirty="0" err="1" smtClean="0">
                <a:solidFill>
                  <a:srgbClr val="CBD5E1"/>
                </a:solidFill>
                <a:latin typeface="Arial" pitchFamily="34" charset="0"/>
                <a:ea typeface="Open Sans"/>
                <a:cs typeface="Arial" pitchFamily="34" charset="0"/>
                <a:sym typeface="Open Sans"/>
              </a:rPr>
              <a:t>hiện</a:t>
            </a:r>
            <a:r>
              <a:rPr lang="en-US" sz="2000" dirty="0" smtClean="0">
                <a:solidFill>
                  <a:srgbClr val="CBD5E1"/>
                </a:solidFill>
                <a:latin typeface="Arial" pitchFamily="34" charset="0"/>
                <a:ea typeface="Open Sans"/>
                <a:cs typeface="Arial" pitchFamily="34" charset="0"/>
                <a:sym typeface="Open Sans"/>
              </a:rPr>
              <a:t> </a:t>
            </a:r>
            <a:endParaRPr sz="2000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94" name="Google Shape;94;p13"/>
          <p:cNvSpPr txBox="1"/>
          <p:nvPr/>
        </p:nvSpPr>
        <p:spPr>
          <a:xfrm>
            <a:off x="3686178" y="4896748"/>
            <a:ext cx="2343151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 dirty="0" err="1">
                <a:solidFill>
                  <a:srgbClr val="FFFFFF"/>
                </a:solidFill>
                <a:latin typeface="Arial" pitchFamily="34" charset="0"/>
                <a:ea typeface="Open Sans SemiBold"/>
                <a:cs typeface="Arial" pitchFamily="34" charset="0"/>
                <a:sym typeface="Open Sans SemiBold"/>
              </a:rPr>
              <a:t>Võ</a:t>
            </a:r>
            <a:r>
              <a:rPr lang="en-US" sz="2000" b="1" i="0" u="none" strike="noStrike" cap="none" dirty="0">
                <a:solidFill>
                  <a:srgbClr val="FFFFFF"/>
                </a:solidFill>
                <a:latin typeface="Arial" pitchFamily="34" charset="0"/>
                <a:ea typeface="Open Sans SemiBold"/>
                <a:cs typeface="Arial" pitchFamily="34" charset="0"/>
                <a:sym typeface="Open Sans SemiBold"/>
              </a:rPr>
              <a:t> </a:t>
            </a:r>
            <a:r>
              <a:rPr lang="en-US" sz="2000" b="1" i="0" u="none" strike="noStrike" cap="none" dirty="0" err="1">
                <a:solidFill>
                  <a:srgbClr val="FFFFFF"/>
                </a:solidFill>
                <a:latin typeface="Arial" pitchFamily="34" charset="0"/>
                <a:ea typeface="Open Sans SemiBold"/>
                <a:cs typeface="Arial" pitchFamily="34" charset="0"/>
                <a:sym typeface="Open Sans SemiBold"/>
              </a:rPr>
              <a:t>Bảo</a:t>
            </a:r>
            <a:r>
              <a:rPr lang="en-US" sz="2000" b="1" i="0" u="none" strike="noStrike" cap="none" dirty="0">
                <a:solidFill>
                  <a:srgbClr val="FFFFFF"/>
                </a:solidFill>
                <a:latin typeface="Arial" pitchFamily="34" charset="0"/>
                <a:ea typeface="Open Sans SemiBold"/>
                <a:cs typeface="Arial" pitchFamily="34" charset="0"/>
                <a:sym typeface="Open Sans SemiBold"/>
              </a:rPr>
              <a:t> </a:t>
            </a:r>
            <a:r>
              <a:rPr lang="en-US" sz="2000" b="1" i="0" u="none" strike="noStrike" cap="none" dirty="0" err="1">
                <a:solidFill>
                  <a:srgbClr val="FFFFFF"/>
                </a:solidFill>
                <a:latin typeface="Arial" pitchFamily="34" charset="0"/>
                <a:ea typeface="Open Sans SemiBold"/>
                <a:cs typeface="Arial" pitchFamily="34" charset="0"/>
                <a:sym typeface="Open Sans SemiBold"/>
              </a:rPr>
              <a:t>Ngọc</a:t>
            </a:r>
            <a:endParaRPr sz="2000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95" name="Google Shape;95;p13"/>
          <p:cNvSpPr txBox="1"/>
          <p:nvPr/>
        </p:nvSpPr>
        <p:spPr>
          <a:xfrm>
            <a:off x="6238847" y="4437717"/>
            <a:ext cx="2724180" cy="4924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 err="1" smtClean="0">
                <a:solidFill>
                  <a:srgbClr val="CBD5E1"/>
                </a:solidFill>
                <a:latin typeface="Arial" pitchFamily="34" charset="0"/>
                <a:ea typeface="Open Sans"/>
                <a:cs typeface="Arial" pitchFamily="34" charset="0"/>
                <a:sym typeface="Open Sans"/>
              </a:rPr>
              <a:t>Giản</a:t>
            </a:r>
            <a:r>
              <a:rPr lang="en-US" sz="2000" dirty="0" smtClean="0">
                <a:solidFill>
                  <a:srgbClr val="CBD5E1"/>
                </a:solidFill>
                <a:latin typeface="Arial" pitchFamily="34" charset="0"/>
                <a:ea typeface="Open Sans"/>
                <a:cs typeface="Arial" pitchFamily="34" charset="0"/>
                <a:sym typeface="Open Sans"/>
              </a:rPr>
              <a:t> </a:t>
            </a:r>
            <a:r>
              <a:rPr lang="en-US" sz="2000" dirty="0" err="1" smtClean="0">
                <a:solidFill>
                  <a:srgbClr val="CBD5E1"/>
                </a:solidFill>
                <a:latin typeface="Arial" pitchFamily="34" charset="0"/>
                <a:ea typeface="Open Sans"/>
                <a:cs typeface="Arial" pitchFamily="34" charset="0"/>
                <a:sym typeface="Open Sans"/>
              </a:rPr>
              <a:t>viên</a:t>
            </a:r>
            <a:r>
              <a:rPr lang="en-US" sz="2000" dirty="0" smtClean="0">
                <a:solidFill>
                  <a:srgbClr val="CBD5E1"/>
                </a:solidFill>
                <a:latin typeface="Arial" pitchFamily="34" charset="0"/>
                <a:ea typeface="Open Sans"/>
                <a:cs typeface="Arial" pitchFamily="34" charset="0"/>
                <a:sym typeface="Open Sans"/>
              </a:rPr>
              <a:t> </a:t>
            </a:r>
            <a:r>
              <a:rPr lang="en-US" sz="2000" dirty="0" err="1" smtClean="0">
                <a:solidFill>
                  <a:srgbClr val="CBD5E1"/>
                </a:solidFill>
                <a:latin typeface="Arial" pitchFamily="34" charset="0"/>
                <a:ea typeface="Open Sans"/>
                <a:cs typeface="Arial" pitchFamily="34" charset="0"/>
                <a:sym typeface="Open Sans"/>
              </a:rPr>
              <a:t>hướng</a:t>
            </a:r>
            <a:r>
              <a:rPr lang="en-US" sz="2000" dirty="0" smtClean="0">
                <a:solidFill>
                  <a:srgbClr val="CBD5E1"/>
                </a:solidFill>
                <a:latin typeface="Arial" pitchFamily="34" charset="0"/>
                <a:ea typeface="Open Sans"/>
                <a:cs typeface="Arial" pitchFamily="34" charset="0"/>
                <a:sym typeface="Open Sans"/>
              </a:rPr>
              <a:t> </a:t>
            </a:r>
            <a:r>
              <a:rPr lang="en-US" sz="2000" dirty="0" err="1" smtClean="0">
                <a:solidFill>
                  <a:srgbClr val="CBD5E1"/>
                </a:solidFill>
                <a:latin typeface="Arial" pitchFamily="34" charset="0"/>
                <a:ea typeface="Open Sans"/>
                <a:cs typeface="Arial" pitchFamily="34" charset="0"/>
                <a:sym typeface="Open Sans"/>
              </a:rPr>
              <a:t>dẫn</a:t>
            </a:r>
            <a:endParaRPr sz="2000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96" name="Google Shape;96;p13"/>
          <p:cNvSpPr txBox="1"/>
          <p:nvPr/>
        </p:nvSpPr>
        <p:spPr>
          <a:xfrm>
            <a:off x="6629405" y="4923463"/>
            <a:ext cx="1790223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 dirty="0" err="1">
                <a:solidFill>
                  <a:srgbClr val="FFFFFF"/>
                </a:solidFill>
                <a:latin typeface="Arial" pitchFamily="34" charset="0"/>
                <a:ea typeface="Open Sans SemiBold"/>
                <a:cs typeface="Arial" pitchFamily="34" charset="0"/>
                <a:sym typeface="Open Sans SemiBold"/>
              </a:rPr>
              <a:t>Trần</a:t>
            </a:r>
            <a:r>
              <a:rPr lang="en-US" sz="2000" b="1" i="0" u="none" strike="noStrike" cap="none" dirty="0">
                <a:solidFill>
                  <a:srgbClr val="FFFFFF"/>
                </a:solidFill>
                <a:latin typeface="Arial" pitchFamily="34" charset="0"/>
                <a:ea typeface="Open Sans SemiBold"/>
                <a:cs typeface="Arial" pitchFamily="34" charset="0"/>
                <a:sym typeface="Open Sans SemiBold"/>
              </a:rPr>
              <a:t> </a:t>
            </a:r>
            <a:r>
              <a:rPr lang="en-US" sz="2000" b="1" i="0" u="none" strike="noStrike" cap="none" dirty="0" err="1">
                <a:solidFill>
                  <a:srgbClr val="FFFFFF"/>
                </a:solidFill>
                <a:latin typeface="Arial" pitchFamily="34" charset="0"/>
                <a:ea typeface="Open Sans SemiBold"/>
                <a:cs typeface="Arial" pitchFamily="34" charset="0"/>
                <a:sym typeface="Open Sans SemiBold"/>
              </a:rPr>
              <a:t>Văn</a:t>
            </a:r>
            <a:r>
              <a:rPr lang="en-US" sz="2000" b="1" i="0" u="none" strike="noStrike" cap="none" dirty="0">
                <a:solidFill>
                  <a:srgbClr val="FFFFFF"/>
                </a:solidFill>
                <a:latin typeface="Arial" pitchFamily="34" charset="0"/>
                <a:ea typeface="Open Sans SemiBold"/>
                <a:cs typeface="Arial" pitchFamily="34" charset="0"/>
                <a:sym typeface="Open Sans SemiBold"/>
              </a:rPr>
              <a:t> Nam</a:t>
            </a:r>
            <a:endParaRPr sz="2000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11229405" y="6448624"/>
            <a:ext cx="732893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/>
            <a:r>
              <a:rPr lang="en-US" dirty="0">
                <a:solidFill>
                  <a:schemeClr val="tx1"/>
                </a:solidFill>
                <a:latin typeface="Open Sans"/>
                <a:ea typeface="Open Sans"/>
                <a:cs typeface="Open Sans"/>
                <a:sym typeface="Open Sans"/>
              </a:rPr>
              <a:t>Slide </a:t>
            </a:r>
            <a:r>
              <a:rPr lang="en-US" dirty="0" smtClean="0">
                <a:solidFill>
                  <a:schemeClr val="tx1"/>
                </a:solidFill>
                <a:latin typeface="Open Sans"/>
                <a:ea typeface="Open Sans"/>
                <a:cs typeface="Open Sans"/>
                <a:sym typeface="Open Sans"/>
              </a:rPr>
              <a:t>1</a:t>
            </a:r>
            <a:endParaRPr lang="en-US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" name="Google Shape;102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1323980"/>
            <a:ext cx="3492400" cy="4962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349652" y="1323980"/>
            <a:ext cx="3492549" cy="4962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4" name="Google Shape;104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127951" y="1323980"/>
            <a:ext cx="3492400" cy="4962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5" name="Google Shape;105;p1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0" y="6381750"/>
            <a:ext cx="1219200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106" name="Google Shape;106;p14"/>
          <p:cNvSpPr txBox="1"/>
          <p:nvPr/>
        </p:nvSpPr>
        <p:spPr>
          <a:xfrm>
            <a:off x="571503" y="381001"/>
            <a:ext cx="3492397" cy="484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 dirty="0" err="1">
                <a:solidFill>
                  <a:srgbClr val="003366"/>
                </a:solidFill>
                <a:latin typeface="Roboto"/>
                <a:ea typeface="Roboto"/>
                <a:cs typeface="Roboto"/>
                <a:sym typeface="Roboto"/>
              </a:rPr>
              <a:t>Giới</a:t>
            </a:r>
            <a:r>
              <a:rPr lang="en-US" sz="3150" b="1" i="0" u="none" strike="noStrike" cap="none" dirty="0">
                <a:solidFill>
                  <a:srgbClr val="003366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3150" b="1" i="0" u="none" strike="noStrike" cap="none" dirty="0" err="1">
                <a:solidFill>
                  <a:srgbClr val="003366"/>
                </a:solidFill>
                <a:latin typeface="Roboto"/>
                <a:ea typeface="Roboto"/>
                <a:cs typeface="Roboto"/>
                <a:sym typeface="Roboto"/>
              </a:rPr>
              <a:t>Thiệu</a:t>
            </a:r>
            <a:r>
              <a:rPr lang="en-US" sz="3150" b="1" i="0" u="none" strike="noStrike" cap="none" dirty="0">
                <a:solidFill>
                  <a:srgbClr val="003366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3150" b="1" i="0" u="none" strike="noStrike" cap="none" dirty="0" err="1">
                <a:solidFill>
                  <a:srgbClr val="003366"/>
                </a:solidFill>
                <a:latin typeface="Roboto"/>
                <a:ea typeface="Roboto"/>
                <a:cs typeface="Roboto"/>
                <a:sym typeface="Roboto"/>
              </a:rPr>
              <a:t>Đề</a:t>
            </a:r>
            <a:r>
              <a:rPr lang="en-US" sz="3150" b="1" i="0" u="none" strike="noStrike" cap="none" dirty="0">
                <a:solidFill>
                  <a:srgbClr val="003366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3150" b="1" i="0" u="none" strike="noStrike" cap="none" dirty="0" err="1">
                <a:solidFill>
                  <a:srgbClr val="003366"/>
                </a:solidFill>
                <a:latin typeface="Roboto"/>
                <a:ea typeface="Roboto"/>
                <a:cs typeface="Roboto"/>
                <a:sym typeface="Roboto"/>
              </a:rPr>
              <a:t>Tài</a:t>
            </a:r>
            <a:endParaRPr dirty="0"/>
          </a:p>
        </p:txBody>
      </p:sp>
      <p:sp>
        <p:nvSpPr>
          <p:cNvPr id="107" name="Google Shape;107;p14"/>
          <p:cNvSpPr txBox="1"/>
          <p:nvPr/>
        </p:nvSpPr>
        <p:spPr>
          <a:xfrm>
            <a:off x="628651" y="6463061"/>
            <a:ext cx="876300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u="none" strike="noStrike" cap="none">
                <a:solidFill>
                  <a:srgbClr val="003366"/>
                </a:solidFill>
                <a:latin typeface="Open Sans SemiBold"/>
                <a:ea typeface="Open Sans SemiBold"/>
                <a:cs typeface="Open Sans SemiBold"/>
                <a:sym typeface="Open Sans SemiBold"/>
              </a:rPr>
              <a:t>Mytee Studio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11382380" y="6534156"/>
            <a:ext cx="428625" cy="1615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 dirty="0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Slide 2</a:t>
            </a:r>
            <a:endParaRPr dirty="0"/>
          </a:p>
        </p:txBody>
      </p:sp>
      <p:pic>
        <p:nvPicPr>
          <p:cNvPr id="110" name="Google Shape;110;p14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381000" y="6557962"/>
            <a:ext cx="152400" cy="133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1" name="Google Shape;111;p14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904880" y="1609725"/>
            <a:ext cx="42862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14"/>
          <p:cNvSpPr txBox="1"/>
          <p:nvPr/>
        </p:nvSpPr>
        <p:spPr>
          <a:xfrm>
            <a:off x="904877" y="2181230"/>
            <a:ext cx="3016939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003366"/>
                </a:solidFill>
                <a:latin typeface="Roboto"/>
                <a:ea typeface="Roboto"/>
                <a:cs typeface="Roboto"/>
                <a:sym typeface="Roboto"/>
              </a:rPr>
              <a:t>Xu Hướng</a:t>
            </a:r>
            <a:endParaRPr/>
          </a:p>
        </p:txBody>
      </p:sp>
      <p:sp>
        <p:nvSpPr>
          <p:cNvPr id="113" name="Google Shape;113;p14"/>
          <p:cNvSpPr txBox="1"/>
          <p:nvPr/>
        </p:nvSpPr>
        <p:spPr>
          <a:xfrm>
            <a:off x="904876" y="2590803"/>
            <a:ext cx="2873275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rPr>
              <a:t>Thị trường cá nhân hóa sản phẩm (POD) đang phát triển mạnh mẽ. Khách hàng muốn sản phẩm độc bản.</a:t>
            </a:r>
            <a:endParaRPr/>
          </a:p>
        </p:txBody>
      </p:sp>
      <p:pic>
        <p:nvPicPr>
          <p:cNvPr id="114" name="Google Shape;114;p14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683025" y="1609725"/>
            <a:ext cx="476251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p14"/>
          <p:cNvSpPr txBox="1"/>
          <p:nvPr/>
        </p:nvSpPr>
        <p:spPr>
          <a:xfrm>
            <a:off x="4683029" y="2181230"/>
            <a:ext cx="3017095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003366"/>
                </a:solidFill>
                <a:latin typeface="Roboto"/>
                <a:ea typeface="Roboto"/>
                <a:cs typeface="Roboto"/>
                <a:sym typeface="Roboto"/>
              </a:rPr>
              <a:t>Nhu Cầu</a:t>
            </a:r>
            <a:endParaRPr/>
          </a:p>
        </p:txBody>
      </p:sp>
      <p:sp>
        <p:nvSpPr>
          <p:cNvPr id="116" name="Google Shape;116;p14"/>
          <p:cNvSpPr txBox="1"/>
          <p:nvPr/>
        </p:nvSpPr>
        <p:spPr>
          <a:xfrm>
            <a:off x="4683025" y="2590803"/>
            <a:ext cx="2873424" cy="1107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rPr>
              <a:t>Nhu cầu tự thiết kế áo thun trực tuyến, xem trước sản phẩm (preview) trước khi đặt in.</a:t>
            </a:r>
            <a:endParaRPr/>
          </a:p>
        </p:txBody>
      </p:sp>
      <p:pic>
        <p:nvPicPr>
          <p:cNvPr id="117" name="Google Shape;117;p14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8461325" y="1609725"/>
            <a:ext cx="3810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14"/>
          <p:cNvSpPr txBox="1"/>
          <p:nvPr/>
        </p:nvSpPr>
        <p:spPr>
          <a:xfrm>
            <a:off x="8461325" y="2181230"/>
            <a:ext cx="3016939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003366"/>
                </a:solidFill>
                <a:latin typeface="Roboto"/>
                <a:ea typeface="Roboto"/>
                <a:cs typeface="Roboto"/>
                <a:sym typeface="Roboto"/>
              </a:rPr>
              <a:t>Vấn Đề</a:t>
            </a:r>
            <a:endParaRPr/>
          </a:p>
        </p:txBody>
      </p:sp>
      <p:sp>
        <p:nvSpPr>
          <p:cNvPr id="119" name="Google Shape;119;p14"/>
          <p:cNvSpPr txBox="1"/>
          <p:nvPr/>
        </p:nvSpPr>
        <p:spPr>
          <a:xfrm>
            <a:off x="8461325" y="2590800"/>
            <a:ext cx="2873275" cy="1107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rPr>
              <a:t>Các shop truyền thống xử lý thủ công, thiếu hệ thống quản lý tập trung từ thiết kế đến in ấn.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5" y="2008137"/>
            <a:ext cx="5286375" cy="35940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6" name="Google Shape;126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0" y="6381750"/>
            <a:ext cx="1219200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127" name="Google Shape;127;p15"/>
          <p:cNvSpPr txBox="1"/>
          <p:nvPr/>
        </p:nvSpPr>
        <p:spPr>
          <a:xfrm>
            <a:off x="571503" y="381001"/>
            <a:ext cx="2876551" cy="9694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03366"/>
                </a:solidFill>
                <a:latin typeface="Roboto"/>
                <a:ea typeface="Roboto"/>
                <a:cs typeface="Roboto"/>
                <a:sym typeface="Roboto"/>
              </a:rPr>
              <a:t>Mục Tiêu Đề Tài</a:t>
            </a:r>
            <a:endParaRPr/>
          </a:p>
        </p:txBody>
      </p:sp>
      <p:sp>
        <p:nvSpPr>
          <p:cNvPr id="128" name="Google Shape;128;p15"/>
          <p:cNvSpPr txBox="1"/>
          <p:nvPr/>
        </p:nvSpPr>
        <p:spPr>
          <a:xfrm>
            <a:off x="628651" y="6463061"/>
            <a:ext cx="876300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u="none" strike="noStrike" cap="none">
                <a:solidFill>
                  <a:srgbClr val="003366"/>
                </a:solidFill>
                <a:latin typeface="Open Sans SemiBold"/>
                <a:ea typeface="Open Sans SemiBold"/>
                <a:cs typeface="Open Sans SemiBold"/>
                <a:sym typeface="Open Sans SemiBold"/>
              </a:rPr>
              <a:t>Mytee Studio</a:t>
            </a:r>
            <a:endParaRPr/>
          </a:p>
        </p:txBody>
      </p:sp>
      <p:sp>
        <p:nvSpPr>
          <p:cNvPr id="129" name="Google Shape;129;p15"/>
          <p:cNvSpPr txBox="1"/>
          <p:nvPr/>
        </p:nvSpPr>
        <p:spPr>
          <a:xfrm>
            <a:off x="11382380" y="6534156"/>
            <a:ext cx="428625" cy="1615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Slide 3</a:t>
            </a:r>
            <a:endParaRPr/>
          </a:p>
        </p:txBody>
      </p:sp>
      <p:sp>
        <p:nvSpPr>
          <p:cNvPr id="130" name="Google Shape;130;p15"/>
          <p:cNvSpPr/>
          <p:nvPr/>
        </p:nvSpPr>
        <p:spPr>
          <a:xfrm>
            <a:off x="1724027" y="595312"/>
            <a:ext cx="57150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1" name="Google Shape;131;p15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381000" y="6557962"/>
            <a:ext cx="152400" cy="133350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15"/>
          <p:cNvSpPr txBox="1"/>
          <p:nvPr/>
        </p:nvSpPr>
        <p:spPr>
          <a:xfrm>
            <a:off x="6667500" y="2300287"/>
            <a:ext cx="495300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 err="1">
                <a:solidFill>
                  <a:srgbClr val="005B96"/>
                </a:solidFill>
                <a:latin typeface="Open Sans"/>
                <a:ea typeface="Open Sans"/>
                <a:cs typeface="Open Sans"/>
                <a:sym typeface="Open Sans"/>
              </a:rPr>
              <a:t>Xây</a:t>
            </a:r>
            <a:r>
              <a:rPr lang="en-US" sz="1500" b="1" i="0" u="none" strike="noStrike" cap="none" dirty="0">
                <a:solidFill>
                  <a:srgbClr val="005B96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500" b="1" i="0" u="none" strike="noStrike" cap="none" dirty="0" err="1">
                <a:solidFill>
                  <a:srgbClr val="005B96"/>
                </a:solidFill>
                <a:latin typeface="Open Sans"/>
                <a:ea typeface="Open Sans"/>
                <a:cs typeface="Open Sans"/>
                <a:sym typeface="Open Sans"/>
              </a:rPr>
              <a:t>dựng</a:t>
            </a:r>
            <a:r>
              <a:rPr lang="en-US" sz="1500" b="1" i="0" u="none" strike="noStrike" cap="none" dirty="0">
                <a:solidFill>
                  <a:srgbClr val="005B96"/>
                </a:solidFill>
                <a:latin typeface="Open Sans"/>
                <a:ea typeface="Open Sans"/>
                <a:cs typeface="Open Sans"/>
                <a:sym typeface="Open Sans"/>
              </a:rPr>
              <a:t> Website E-commerce: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rPr>
              <a:t>Đầy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rPr>
              <a:t>đủ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rPr>
              <a:t>tính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rPr>
              <a:t>năng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rPr>
              <a:t>bán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rPr>
              <a:t>hàng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rPr>
              <a:t>trực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rPr>
              <a:t>tuyến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  <a:endParaRPr dirty="0"/>
          </a:p>
        </p:txBody>
      </p:sp>
      <p:sp>
        <p:nvSpPr>
          <p:cNvPr id="134" name="Google Shape;134;p15"/>
          <p:cNvSpPr txBox="1"/>
          <p:nvPr/>
        </p:nvSpPr>
        <p:spPr>
          <a:xfrm>
            <a:off x="6667500" y="3052762"/>
            <a:ext cx="495300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05B96"/>
                </a:solidFill>
                <a:latin typeface="Open Sans"/>
                <a:ea typeface="Open Sans"/>
                <a:cs typeface="Open Sans"/>
                <a:sym typeface="Open Sans"/>
              </a:rPr>
              <a:t>Tích hợp Customizer:</a:t>
            </a:r>
            <a:r>
              <a:rPr lang="en-US" sz="1500" b="0" i="0" u="none" strike="noStrike" cap="none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rPr>
              <a:t> Công cụ cho phép khách hàng tải ảnh, thêm chữ, đổi màu áo ngay trên web.</a:t>
            </a:r>
            <a:endParaRPr/>
          </a:p>
        </p:txBody>
      </p:sp>
      <p:sp>
        <p:nvSpPr>
          <p:cNvPr id="135" name="Google Shape;135;p15"/>
          <p:cNvSpPr txBox="1"/>
          <p:nvPr/>
        </p:nvSpPr>
        <p:spPr>
          <a:xfrm>
            <a:off x="6667500" y="3805237"/>
            <a:ext cx="495300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05B96"/>
                </a:solidFill>
                <a:latin typeface="Open Sans"/>
                <a:ea typeface="Open Sans"/>
                <a:cs typeface="Open Sans"/>
                <a:sym typeface="Open Sans"/>
              </a:rPr>
              <a:t>Hệ thống quản lý (CMS):</a:t>
            </a:r>
            <a:r>
              <a:rPr lang="en-US" sz="1500" b="0" i="0" u="none" strike="noStrike" cap="none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rPr>
              <a:t> Quản lý sản phẩm, đơn hàng, khách hàng và thiết kế.</a:t>
            </a:r>
            <a:endParaRPr/>
          </a:p>
        </p:txBody>
      </p:sp>
      <p:sp>
        <p:nvSpPr>
          <p:cNvPr id="136" name="Google Shape;136;p15"/>
          <p:cNvSpPr txBox="1"/>
          <p:nvPr/>
        </p:nvSpPr>
        <p:spPr>
          <a:xfrm>
            <a:off x="6667500" y="4557712"/>
            <a:ext cx="495300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05B96"/>
                </a:solidFill>
                <a:latin typeface="Open Sans"/>
                <a:ea typeface="Open Sans"/>
                <a:cs typeface="Open Sans"/>
                <a:sym typeface="Open Sans"/>
              </a:rPr>
              <a:t>Quy trình khép kín:</a:t>
            </a:r>
            <a:r>
              <a:rPr lang="en-US" sz="1500" b="0" i="0" u="none" strike="noStrike" cap="none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rPr>
              <a:t> Hỗ trợ luồng in ấn và giao hàng hiệu quả.</a:t>
            </a:r>
            <a:endParaRPr/>
          </a:p>
        </p:txBody>
      </p:sp>
      <p:pic>
        <p:nvPicPr>
          <p:cNvPr id="137" name="Google Shape;137;p15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334129" y="2319343"/>
            <a:ext cx="104775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8" name="Google Shape;138;p15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334129" y="3071818"/>
            <a:ext cx="104775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9" name="Google Shape;139;p15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334129" y="3824287"/>
            <a:ext cx="104775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0" name="Google Shape;140;p15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334129" y="4576768"/>
            <a:ext cx="104775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Picture 18"/>
          <p:cNvPicPr/>
          <p:nvPr/>
        </p:nvPicPr>
        <p:blipFill>
          <a:blip r:embed="rId8"/>
          <a:stretch>
            <a:fillRect/>
          </a:stretch>
        </p:blipFill>
        <p:spPr>
          <a:xfrm>
            <a:off x="628651" y="2087250"/>
            <a:ext cx="5153024" cy="342772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5" name="Google Shape;145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6" name="Google Shape;146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0" y="6381750"/>
            <a:ext cx="1219200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16"/>
          <p:cNvSpPr txBox="1"/>
          <p:nvPr/>
        </p:nvSpPr>
        <p:spPr>
          <a:xfrm>
            <a:off x="571504" y="381001"/>
            <a:ext cx="3476625" cy="9694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03366"/>
                </a:solidFill>
                <a:latin typeface="Roboto"/>
                <a:ea typeface="Roboto"/>
                <a:cs typeface="Roboto"/>
                <a:sym typeface="Roboto"/>
              </a:rPr>
              <a:t>Đối Tượng Sử Dụng</a:t>
            </a:r>
            <a:endParaRPr/>
          </a:p>
        </p:txBody>
      </p:sp>
      <p:sp>
        <p:nvSpPr>
          <p:cNvPr id="148" name="Google Shape;148;p16"/>
          <p:cNvSpPr txBox="1"/>
          <p:nvPr/>
        </p:nvSpPr>
        <p:spPr>
          <a:xfrm>
            <a:off x="628651" y="6463061"/>
            <a:ext cx="876300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u="none" strike="noStrike" cap="none">
                <a:solidFill>
                  <a:srgbClr val="003366"/>
                </a:solidFill>
                <a:latin typeface="Open Sans SemiBold"/>
                <a:ea typeface="Open Sans SemiBold"/>
                <a:cs typeface="Open Sans SemiBold"/>
                <a:sym typeface="Open Sans SemiBold"/>
              </a:rPr>
              <a:t>Mytee Studio</a:t>
            </a:r>
            <a:endParaRPr/>
          </a:p>
        </p:txBody>
      </p:sp>
      <p:sp>
        <p:nvSpPr>
          <p:cNvPr id="149" name="Google Shape;149;p16"/>
          <p:cNvSpPr txBox="1"/>
          <p:nvPr/>
        </p:nvSpPr>
        <p:spPr>
          <a:xfrm>
            <a:off x="11382380" y="6534156"/>
            <a:ext cx="428625" cy="1615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Slide 4</a:t>
            </a:r>
            <a:endParaRPr/>
          </a:p>
        </p:txBody>
      </p:sp>
      <p:pic>
        <p:nvPicPr>
          <p:cNvPr id="151" name="Google Shape;151;p16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81000" y="6557962"/>
            <a:ext cx="152400" cy="133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2" name="Google Shape;152;p16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841451" y="1323975"/>
            <a:ext cx="952500" cy="952500"/>
          </a:xfrm>
          <a:prstGeom prst="rect">
            <a:avLst/>
          </a:prstGeom>
          <a:noFill/>
          <a:ln>
            <a:noFill/>
          </a:ln>
        </p:spPr>
      </p:pic>
      <p:sp>
        <p:nvSpPr>
          <p:cNvPr id="153" name="Google Shape;153;p16"/>
          <p:cNvSpPr txBox="1"/>
          <p:nvPr/>
        </p:nvSpPr>
        <p:spPr>
          <a:xfrm>
            <a:off x="484191" y="2466981"/>
            <a:ext cx="3667020" cy="2160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003366"/>
                </a:solidFill>
                <a:latin typeface="Open Sans"/>
                <a:ea typeface="Open Sans"/>
                <a:cs typeface="Open Sans"/>
                <a:sym typeface="Open Sans"/>
              </a:rPr>
              <a:t>Khách Hàng</a:t>
            </a:r>
            <a:endParaRPr/>
          </a:p>
        </p:txBody>
      </p:sp>
      <p:sp>
        <p:nvSpPr>
          <p:cNvPr id="154" name="Google Shape;154;p16"/>
          <p:cNvSpPr txBox="1"/>
          <p:nvPr/>
        </p:nvSpPr>
        <p:spPr>
          <a:xfrm>
            <a:off x="571500" y="2800355"/>
            <a:ext cx="3492400" cy="5909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rPr>
              <a:t>Người mua lẻ, nhóm lớp, công ty muốn in áo đồng phục.</a:t>
            </a:r>
            <a:endParaRPr/>
          </a:p>
        </p:txBody>
      </p:sp>
      <p:pic>
        <p:nvPicPr>
          <p:cNvPr id="155" name="Google Shape;155;p16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619603" y="1323975"/>
            <a:ext cx="952500" cy="952500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16"/>
          <p:cNvSpPr txBox="1"/>
          <p:nvPr/>
        </p:nvSpPr>
        <p:spPr>
          <a:xfrm>
            <a:off x="4262341" y="2466981"/>
            <a:ext cx="3667177" cy="2160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003366"/>
                </a:solidFill>
                <a:latin typeface="Open Sans"/>
                <a:ea typeface="Open Sans"/>
                <a:cs typeface="Open Sans"/>
                <a:sym typeface="Open Sans"/>
              </a:rPr>
              <a:t>Quản Trị Viên (Admin)</a:t>
            </a:r>
            <a:endParaRPr/>
          </a:p>
        </p:txBody>
      </p:sp>
      <p:sp>
        <p:nvSpPr>
          <p:cNvPr id="157" name="Google Shape;157;p16"/>
          <p:cNvSpPr txBox="1"/>
          <p:nvPr/>
        </p:nvSpPr>
        <p:spPr>
          <a:xfrm>
            <a:off x="4349652" y="2800355"/>
            <a:ext cx="3492549" cy="5909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rPr>
              <a:t>Chủ cửa hàng, người quản lý hệ thống và báo cáo.</a:t>
            </a:r>
            <a:endParaRPr/>
          </a:p>
        </p:txBody>
      </p:sp>
      <p:pic>
        <p:nvPicPr>
          <p:cNvPr id="158" name="Google Shape;158;p16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9397903" y="1323975"/>
            <a:ext cx="952500" cy="95250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16"/>
          <p:cNvSpPr txBox="1"/>
          <p:nvPr/>
        </p:nvSpPr>
        <p:spPr>
          <a:xfrm>
            <a:off x="8040643" y="2466981"/>
            <a:ext cx="3667020" cy="2160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003366"/>
                </a:solidFill>
                <a:latin typeface="Open Sans"/>
                <a:ea typeface="Open Sans"/>
                <a:cs typeface="Open Sans"/>
                <a:sym typeface="Open Sans"/>
              </a:rPr>
              <a:t>Nhân Viên Xử Lý</a:t>
            </a:r>
            <a:endParaRPr/>
          </a:p>
        </p:txBody>
      </p:sp>
      <p:sp>
        <p:nvSpPr>
          <p:cNvPr id="160" name="Google Shape;160;p16"/>
          <p:cNvSpPr txBox="1"/>
          <p:nvPr/>
        </p:nvSpPr>
        <p:spPr>
          <a:xfrm>
            <a:off x="8127951" y="2800350"/>
            <a:ext cx="3492400" cy="295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rPr>
              <a:t>Bộ phận in ấn, kho vận và giao hàng.</a:t>
            </a:r>
            <a:endParaRPr/>
          </a:p>
        </p:txBody>
      </p:sp>
      <p:pic>
        <p:nvPicPr>
          <p:cNvPr id="161" name="Google Shape;161;p16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2079577" y="1609725"/>
            <a:ext cx="476251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2" name="Google Shape;162;p16" descr="image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5857725" y="1609725"/>
            <a:ext cx="476251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3" name="Google Shape;163;p16" descr="image.png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9683651" y="1609725"/>
            <a:ext cx="381000" cy="381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8" name="Google Shape;168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9" name="Google Shape;169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4129" y="2278564"/>
            <a:ext cx="5286375" cy="3053357"/>
          </a:xfrm>
          <a:prstGeom prst="rect">
            <a:avLst/>
          </a:prstGeom>
          <a:noFill/>
          <a:ln>
            <a:noFill/>
          </a:ln>
        </p:spPr>
      </p:pic>
      <p:pic>
        <p:nvPicPr>
          <p:cNvPr id="170" name="Google Shape;170;p17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0" y="6381750"/>
            <a:ext cx="1219200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171" name="Google Shape;171;p17"/>
          <p:cNvSpPr txBox="1"/>
          <p:nvPr/>
        </p:nvSpPr>
        <p:spPr>
          <a:xfrm>
            <a:off x="571501" y="381001"/>
            <a:ext cx="6162675" cy="484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 dirty="0" err="1">
                <a:solidFill>
                  <a:srgbClr val="003366"/>
                </a:solidFill>
                <a:latin typeface="Roboto"/>
                <a:ea typeface="Roboto"/>
                <a:cs typeface="Roboto"/>
                <a:sym typeface="Roboto"/>
              </a:rPr>
              <a:t>Phân</a:t>
            </a:r>
            <a:r>
              <a:rPr lang="en-US" sz="3150" b="1" i="0" u="none" strike="noStrike" cap="none" dirty="0">
                <a:solidFill>
                  <a:srgbClr val="003366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3150" b="1" i="0" u="none" strike="noStrike" cap="none" dirty="0" err="1">
                <a:solidFill>
                  <a:srgbClr val="003366"/>
                </a:solidFill>
                <a:latin typeface="Roboto"/>
                <a:ea typeface="Roboto"/>
                <a:cs typeface="Roboto"/>
                <a:sym typeface="Roboto"/>
              </a:rPr>
              <a:t>Tích</a:t>
            </a:r>
            <a:r>
              <a:rPr lang="en-US" sz="3150" b="1" i="0" u="none" strike="noStrike" cap="none" dirty="0">
                <a:solidFill>
                  <a:srgbClr val="003366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3150" b="1" i="0" u="none" strike="noStrike" cap="none" dirty="0" err="1">
                <a:solidFill>
                  <a:srgbClr val="003366"/>
                </a:solidFill>
                <a:latin typeface="Roboto"/>
                <a:ea typeface="Roboto"/>
                <a:cs typeface="Roboto"/>
                <a:sym typeface="Roboto"/>
              </a:rPr>
              <a:t>Nghiệp</a:t>
            </a:r>
            <a:r>
              <a:rPr lang="en-US" sz="3150" b="1" i="0" u="none" strike="noStrike" cap="none" dirty="0">
                <a:solidFill>
                  <a:srgbClr val="003366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3150" b="1" i="0" u="none" strike="noStrike" cap="none" dirty="0" err="1">
                <a:solidFill>
                  <a:srgbClr val="003366"/>
                </a:solidFill>
                <a:latin typeface="Roboto"/>
                <a:ea typeface="Roboto"/>
                <a:cs typeface="Roboto"/>
                <a:sym typeface="Roboto"/>
              </a:rPr>
              <a:t>Vụ</a:t>
            </a:r>
            <a:r>
              <a:rPr lang="en-US" sz="3150" b="1" i="0" u="none" strike="noStrike" cap="none" dirty="0">
                <a:solidFill>
                  <a:srgbClr val="003366"/>
                </a:solidFill>
                <a:latin typeface="Roboto"/>
                <a:ea typeface="Roboto"/>
                <a:cs typeface="Roboto"/>
                <a:sym typeface="Roboto"/>
              </a:rPr>
              <a:t>: </a:t>
            </a:r>
            <a:r>
              <a:rPr lang="en-US" sz="3150" b="1" i="0" u="none" strike="noStrike" cap="none" dirty="0" err="1">
                <a:solidFill>
                  <a:srgbClr val="003366"/>
                </a:solidFill>
                <a:latin typeface="Roboto"/>
                <a:ea typeface="Roboto"/>
                <a:cs typeface="Roboto"/>
                <a:sym typeface="Roboto"/>
              </a:rPr>
              <a:t>Khách</a:t>
            </a:r>
            <a:r>
              <a:rPr lang="en-US" sz="3150" b="1" i="0" u="none" strike="noStrike" cap="none" dirty="0">
                <a:solidFill>
                  <a:srgbClr val="003366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3150" b="1" i="0" u="none" strike="noStrike" cap="none" dirty="0" err="1">
                <a:solidFill>
                  <a:srgbClr val="003366"/>
                </a:solidFill>
                <a:latin typeface="Roboto"/>
                <a:ea typeface="Roboto"/>
                <a:cs typeface="Roboto"/>
                <a:sym typeface="Roboto"/>
              </a:rPr>
              <a:t>Hàng</a:t>
            </a:r>
            <a:endParaRPr dirty="0"/>
          </a:p>
        </p:txBody>
      </p:sp>
      <p:sp>
        <p:nvSpPr>
          <p:cNvPr id="172" name="Google Shape;172;p17"/>
          <p:cNvSpPr txBox="1"/>
          <p:nvPr/>
        </p:nvSpPr>
        <p:spPr>
          <a:xfrm>
            <a:off x="628651" y="6463061"/>
            <a:ext cx="876300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u="none" strike="noStrike" cap="none">
                <a:solidFill>
                  <a:srgbClr val="003366"/>
                </a:solidFill>
                <a:latin typeface="Open Sans SemiBold"/>
                <a:ea typeface="Open Sans SemiBold"/>
                <a:cs typeface="Open Sans SemiBold"/>
                <a:sym typeface="Open Sans SemiBold"/>
              </a:rPr>
              <a:t>Mytee Studio</a:t>
            </a:r>
            <a:endParaRPr/>
          </a:p>
        </p:txBody>
      </p:sp>
      <p:sp>
        <p:nvSpPr>
          <p:cNvPr id="173" name="Google Shape;173;p17"/>
          <p:cNvSpPr txBox="1"/>
          <p:nvPr/>
        </p:nvSpPr>
        <p:spPr>
          <a:xfrm>
            <a:off x="11382380" y="6534156"/>
            <a:ext cx="428625" cy="1615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Slide 5</a:t>
            </a:r>
            <a:endParaRPr/>
          </a:p>
        </p:txBody>
      </p:sp>
      <p:pic>
        <p:nvPicPr>
          <p:cNvPr id="175" name="Google Shape;175;p17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381000" y="6557962"/>
            <a:ext cx="152400" cy="133350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17"/>
          <p:cNvSpPr txBox="1"/>
          <p:nvPr/>
        </p:nvSpPr>
        <p:spPr>
          <a:xfrm>
            <a:off x="904875" y="2109787"/>
            <a:ext cx="495300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05B96"/>
                </a:solidFill>
                <a:latin typeface="Open Sans"/>
                <a:ea typeface="Open Sans"/>
                <a:cs typeface="Open Sans"/>
                <a:sym typeface="Open Sans"/>
              </a:rPr>
              <a:t>Đăng ký / Đăng nhập:</a:t>
            </a:r>
            <a:r>
              <a:rPr lang="en-US" sz="1500" b="0" i="0" u="none" strike="noStrike" cap="none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rPr>
              <a:t> Quản lý lịch sử thiết kế cá nhân.</a:t>
            </a:r>
            <a:endParaRPr/>
          </a:p>
        </p:txBody>
      </p:sp>
      <p:sp>
        <p:nvSpPr>
          <p:cNvPr id="178" name="Google Shape;178;p17"/>
          <p:cNvSpPr txBox="1"/>
          <p:nvPr/>
        </p:nvSpPr>
        <p:spPr>
          <a:xfrm>
            <a:off x="904875" y="2557462"/>
            <a:ext cx="495300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05B96"/>
                </a:solidFill>
                <a:latin typeface="Open Sans"/>
                <a:ea typeface="Open Sans"/>
                <a:cs typeface="Open Sans"/>
                <a:sym typeface="Open Sans"/>
              </a:rPr>
              <a:t>Product Selection:</a:t>
            </a:r>
            <a:r>
              <a:rPr lang="en-US" sz="1500" b="0" i="0" u="none" strike="noStrike" cap="none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rPr>
              <a:t> Chọn loại áo, size (S-XXL), màu sắc cơ bản.</a:t>
            </a:r>
            <a:endParaRPr/>
          </a:p>
        </p:txBody>
      </p:sp>
      <p:sp>
        <p:nvSpPr>
          <p:cNvPr id="179" name="Google Shape;179;p17"/>
          <p:cNvSpPr txBox="1"/>
          <p:nvPr/>
        </p:nvSpPr>
        <p:spPr>
          <a:xfrm>
            <a:off x="904875" y="3309937"/>
            <a:ext cx="495300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05B96"/>
                </a:solidFill>
                <a:latin typeface="Open Sans"/>
                <a:ea typeface="Open Sans"/>
                <a:cs typeface="Open Sans"/>
                <a:sym typeface="Open Sans"/>
              </a:rPr>
              <a:t>Design Tool (Core):</a:t>
            </a:r>
            <a:endParaRPr/>
          </a:p>
        </p:txBody>
      </p:sp>
      <p:sp>
        <p:nvSpPr>
          <p:cNvPr id="180" name="Google Shape;180;p17"/>
          <p:cNvSpPr txBox="1"/>
          <p:nvPr/>
        </p:nvSpPr>
        <p:spPr>
          <a:xfrm>
            <a:off x="904875" y="5053012"/>
            <a:ext cx="495300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05B96"/>
                </a:solidFill>
                <a:latin typeface="Open Sans"/>
                <a:ea typeface="Open Sans"/>
                <a:cs typeface="Open Sans"/>
                <a:sym typeface="Open Sans"/>
              </a:rPr>
              <a:t>Checkout:</a:t>
            </a:r>
            <a:r>
              <a:rPr lang="en-US" sz="1500" b="0" i="0" u="none" strike="noStrike" cap="none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rPr>
              <a:t> Thanh toán và Tracking đơn hàng.</a:t>
            </a:r>
            <a:endParaRPr/>
          </a:p>
        </p:txBody>
      </p:sp>
      <p:pic>
        <p:nvPicPr>
          <p:cNvPr id="181" name="Google Shape;181;p17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71505" y="2128843"/>
            <a:ext cx="104775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2" name="Google Shape;182;p17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71505" y="2576518"/>
            <a:ext cx="104775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3" name="Google Shape;183;p17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71505" y="3328990"/>
            <a:ext cx="104775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4" name="Google Shape;184;p17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71505" y="5072068"/>
            <a:ext cx="104775" cy="219075"/>
          </a:xfrm>
          <a:prstGeom prst="rect">
            <a:avLst/>
          </a:prstGeom>
          <a:noFill/>
          <a:ln>
            <a:noFill/>
          </a:ln>
        </p:spPr>
      </p:pic>
      <p:sp>
        <p:nvSpPr>
          <p:cNvPr id="185" name="Google Shape;185;p17"/>
          <p:cNvSpPr txBox="1"/>
          <p:nvPr/>
        </p:nvSpPr>
        <p:spPr>
          <a:xfrm>
            <a:off x="1524001" y="3709987"/>
            <a:ext cx="433387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rPr>
              <a:t>Upload ảnh cá nhân.</a:t>
            </a:r>
            <a:endParaRPr/>
          </a:p>
        </p:txBody>
      </p:sp>
      <p:sp>
        <p:nvSpPr>
          <p:cNvPr id="186" name="Google Shape;186;p17"/>
          <p:cNvSpPr txBox="1"/>
          <p:nvPr/>
        </p:nvSpPr>
        <p:spPr>
          <a:xfrm>
            <a:off x="1524001" y="4157662"/>
            <a:ext cx="433387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rPr>
              <a:t>Thêm Text, chỉnh Font/Màu.</a:t>
            </a:r>
            <a:endParaRPr/>
          </a:p>
        </p:txBody>
      </p:sp>
      <p:sp>
        <p:nvSpPr>
          <p:cNvPr id="187" name="Google Shape;187;p17"/>
          <p:cNvSpPr txBox="1"/>
          <p:nvPr/>
        </p:nvSpPr>
        <p:spPr>
          <a:xfrm>
            <a:off x="1524001" y="4605337"/>
            <a:ext cx="433387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rPr>
              <a:t>Drag &amp; Drop vị trí in.</a:t>
            </a:r>
            <a:endParaRPr/>
          </a:p>
        </p:txBody>
      </p:sp>
      <p:pic>
        <p:nvPicPr>
          <p:cNvPr id="188" name="Google Shape;188;p17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190629" y="3729041"/>
            <a:ext cx="104775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9" name="Google Shape;189;p17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190629" y="4176718"/>
            <a:ext cx="104775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0" name="Google Shape;190;p17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190629" y="4624393"/>
            <a:ext cx="104775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5" name="Picture 24"/>
          <p:cNvPicPr/>
          <p:nvPr/>
        </p:nvPicPr>
        <p:blipFill>
          <a:blip r:embed="rId8"/>
          <a:stretch>
            <a:fillRect/>
          </a:stretch>
        </p:blipFill>
        <p:spPr>
          <a:xfrm>
            <a:off x="6438900" y="2340482"/>
            <a:ext cx="5157791" cy="289719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5" name="Google Shape;195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7" name="Google Shape;197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0" y="6381750"/>
            <a:ext cx="1219200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18"/>
          <p:cNvSpPr txBox="1"/>
          <p:nvPr/>
        </p:nvSpPr>
        <p:spPr>
          <a:xfrm>
            <a:off x="571503" y="381001"/>
            <a:ext cx="5153025" cy="9694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03366"/>
                </a:solidFill>
                <a:latin typeface="Roboto"/>
                <a:ea typeface="Roboto"/>
                <a:cs typeface="Roboto"/>
                <a:sym typeface="Roboto"/>
              </a:rPr>
              <a:t>Phân Tích Nghiệp Vụ: Admin</a:t>
            </a:r>
            <a:endParaRPr/>
          </a:p>
        </p:txBody>
      </p:sp>
      <p:sp>
        <p:nvSpPr>
          <p:cNvPr id="199" name="Google Shape;199;p18"/>
          <p:cNvSpPr txBox="1"/>
          <p:nvPr/>
        </p:nvSpPr>
        <p:spPr>
          <a:xfrm>
            <a:off x="628651" y="6463061"/>
            <a:ext cx="876300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u="none" strike="noStrike" cap="none">
                <a:solidFill>
                  <a:srgbClr val="003366"/>
                </a:solidFill>
                <a:latin typeface="Open Sans SemiBold"/>
                <a:ea typeface="Open Sans SemiBold"/>
                <a:cs typeface="Open Sans SemiBold"/>
                <a:sym typeface="Open Sans SemiBold"/>
              </a:rPr>
              <a:t>Mytee Studio</a:t>
            </a:r>
            <a:endParaRPr/>
          </a:p>
        </p:txBody>
      </p:sp>
      <p:sp>
        <p:nvSpPr>
          <p:cNvPr id="200" name="Google Shape;200;p18"/>
          <p:cNvSpPr txBox="1"/>
          <p:nvPr/>
        </p:nvSpPr>
        <p:spPr>
          <a:xfrm>
            <a:off x="11382380" y="6534156"/>
            <a:ext cx="428625" cy="1615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Slide 6</a:t>
            </a:r>
            <a:endParaRPr/>
          </a:p>
        </p:txBody>
      </p:sp>
      <p:pic>
        <p:nvPicPr>
          <p:cNvPr id="202" name="Google Shape;202;p18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81000" y="6557962"/>
            <a:ext cx="152400" cy="133350"/>
          </a:xfrm>
          <a:prstGeom prst="rect">
            <a:avLst/>
          </a:prstGeom>
          <a:noFill/>
          <a:ln>
            <a:noFill/>
          </a:ln>
        </p:spPr>
      </p:pic>
      <p:sp>
        <p:nvSpPr>
          <p:cNvPr id="204" name="Google Shape;204;p18"/>
          <p:cNvSpPr txBox="1"/>
          <p:nvPr/>
        </p:nvSpPr>
        <p:spPr>
          <a:xfrm>
            <a:off x="6667500" y="1957387"/>
            <a:ext cx="495300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05B96"/>
                </a:solidFill>
                <a:latin typeface="Open Sans"/>
                <a:ea typeface="Open Sans"/>
                <a:cs typeface="Open Sans"/>
                <a:sym typeface="Open Sans"/>
              </a:rPr>
              <a:t>Product Management:</a:t>
            </a:r>
            <a:r>
              <a:rPr lang="en-US" sz="1500" b="0" i="0" u="none" strike="noStrike" cap="none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rPr>
              <a:t> CRUD sản phẩm gốc, giá nhập, giá bán.</a:t>
            </a:r>
            <a:endParaRPr/>
          </a:p>
        </p:txBody>
      </p:sp>
      <p:sp>
        <p:nvSpPr>
          <p:cNvPr id="205" name="Google Shape;205;p18"/>
          <p:cNvSpPr txBox="1"/>
          <p:nvPr/>
        </p:nvSpPr>
        <p:spPr>
          <a:xfrm>
            <a:off x="6667500" y="2709862"/>
            <a:ext cx="495300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05B96"/>
                </a:solidFill>
                <a:latin typeface="Open Sans"/>
                <a:ea typeface="Open Sans"/>
                <a:cs typeface="Open Sans"/>
                <a:sym typeface="Open Sans"/>
              </a:rPr>
              <a:t>Color &amp; Mockups:</a:t>
            </a:r>
            <a:r>
              <a:rPr lang="en-US" sz="1500" b="0" i="0" u="none" strike="noStrike" cap="none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rPr>
              <a:t> Quản lý biến thể màu, ảnh phôi (Front/Back).</a:t>
            </a:r>
            <a:endParaRPr/>
          </a:p>
        </p:txBody>
      </p:sp>
      <p:sp>
        <p:nvSpPr>
          <p:cNvPr id="206" name="Google Shape;206;p18"/>
          <p:cNvSpPr txBox="1"/>
          <p:nvPr/>
        </p:nvSpPr>
        <p:spPr>
          <a:xfrm>
            <a:off x="6667500" y="3462337"/>
            <a:ext cx="495300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05B96"/>
                </a:solidFill>
                <a:latin typeface="Open Sans"/>
                <a:ea typeface="Open Sans"/>
                <a:cs typeface="Open Sans"/>
                <a:sym typeface="Open Sans"/>
              </a:rPr>
              <a:t>Order Management:</a:t>
            </a:r>
            <a:endParaRPr/>
          </a:p>
        </p:txBody>
      </p:sp>
      <p:sp>
        <p:nvSpPr>
          <p:cNvPr id="207" name="Google Shape;207;p18"/>
          <p:cNvSpPr txBox="1"/>
          <p:nvPr/>
        </p:nvSpPr>
        <p:spPr>
          <a:xfrm>
            <a:off x="6667500" y="5205412"/>
            <a:ext cx="495300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05B96"/>
                </a:solidFill>
                <a:latin typeface="Open Sans"/>
                <a:ea typeface="Open Sans"/>
                <a:cs typeface="Open Sans"/>
                <a:sym typeface="Open Sans"/>
              </a:rPr>
              <a:t>Banners:</a:t>
            </a:r>
            <a:r>
              <a:rPr lang="en-US" sz="1500" b="0" i="0" u="none" strike="noStrike" cap="none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rPr>
              <a:t> Cấu hình Slide quảng cáo trang chủ.</a:t>
            </a:r>
            <a:endParaRPr/>
          </a:p>
        </p:txBody>
      </p:sp>
      <p:pic>
        <p:nvPicPr>
          <p:cNvPr id="208" name="Google Shape;208;p18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334129" y="1976437"/>
            <a:ext cx="104775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9" name="Google Shape;209;p18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334129" y="2728918"/>
            <a:ext cx="104775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0" name="Google Shape;210;p18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334129" y="3481393"/>
            <a:ext cx="104775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1" name="Google Shape;211;p18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334129" y="5224468"/>
            <a:ext cx="104775" cy="219075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18"/>
          <p:cNvSpPr txBox="1"/>
          <p:nvPr/>
        </p:nvSpPr>
        <p:spPr>
          <a:xfrm>
            <a:off x="7286625" y="3862387"/>
            <a:ext cx="433387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rPr>
              <a:t>Xem chi tiết đơn hàng.</a:t>
            </a:r>
            <a:endParaRPr/>
          </a:p>
        </p:txBody>
      </p:sp>
      <p:sp>
        <p:nvSpPr>
          <p:cNvPr id="213" name="Google Shape;213;p18"/>
          <p:cNvSpPr txBox="1"/>
          <p:nvPr/>
        </p:nvSpPr>
        <p:spPr>
          <a:xfrm>
            <a:off x="7286625" y="4310062"/>
            <a:ext cx="433387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rPr>
              <a:t>Tải file thiết kế gốc (High Res).</a:t>
            </a:r>
            <a:endParaRPr/>
          </a:p>
        </p:txBody>
      </p:sp>
      <p:sp>
        <p:nvSpPr>
          <p:cNvPr id="214" name="Google Shape;214;p18"/>
          <p:cNvSpPr txBox="1"/>
          <p:nvPr/>
        </p:nvSpPr>
        <p:spPr>
          <a:xfrm>
            <a:off x="7286625" y="4757737"/>
            <a:ext cx="433387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rPr>
              <a:t>Cập nhật trạng thái in ấn.</a:t>
            </a:r>
            <a:endParaRPr/>
          </a:p>
        </p:txBody>
      </p:sp>
      <p:pic>
        <p:nvPicPr>
          <p:cNvPr id="215" name="Google Shape;215;p18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953254" y="3881443"/>
            <a:ext cx="104775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6" name="Google Shape;216;p18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953254" y="4329118"/>
            <a:ext cx="104775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7" name="Google Shape;217;p18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953254" y="4776793"/>
            <a:ext cx="104775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1503" y="1668866"/>
            <a:ext cx="5181600" cy="2322114"/>
          </a:xfrm>
          <a:prstGeom prst="rect">
            <a:avLst/>
          </a:prstGeom>
        </p:spPr>
      </p:pic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1503" y="4047053"/>
            <a:ext cx="5181600" cy="20431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2" name="Google Shape;222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3" name="Google Shape;223;p1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547812" y="2737550"/>
            <a:ext cx="3810000" cy="2135385"/>
          </a:xfrm>
          <a:prstGeom prst="rect">
            <a:avLst/>
          </a:prstGeom>
          <a:noFill/>
          <a:ln>
            <a:noFill/>
          </a:ln>
        </p:spPr>
      </p:pic>
      <p:pic>
        <p:nvPicPr>
          <p:cNvPr id="224" name="Google Shape;224;p1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834187" y="2737550"/>
            <a:ext cx="3810000" cy="2135385"/>
          </a:xfrm>
          <a:prstGeom prst="rect">
            <a:avLst/>
          </a:prstGeom>
          <a:noFill/>
          <a:ln>
            <a:noFill/>
          </a:ln>
        </p:spPr>
      </p:pic>
      <p:pic>
        <p:nvPicPr>
          <p:cNvPr id="225" name="Google Shape;225;p19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0" y="6381750"/>
            <a:ext cx="1219200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226" name="Google Shape;226;p19"/>
          <p:cNvSpPr txBox="1"/>
          <p:nvPr/>
        </p:nvSpPr>
        <p:spPr>
          <a:xfrm>
            <a:off x="571504" y="381001"/>
            <a:ext cx="4695825" cy="9694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 dirty="0" err="1">
                <a:solidFill>
                  <a:srgbClr val="003366"/>
                </a:solidFill>
                <a:latin typeface="Roboto"/>
                <a:ea typeface="Roboto"/>
                <a:cs typeface="Roboto"/>
                <a:sym typeface="Roboto"/>
              </a:rPr>
              <a:t>Sơ</a:t>
            </a:r>
            <a:r>
              <a:rPr lang="en-US" sz="3150" b="1" i="0" u="none" strike="noStrike" cap="none" dirty="0">
                <a:solidFill>
                  <a:srgbClr val="003366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3150" b="1" i="0" u="none" strike="noStrike" cap="none" dirty="0" err="1">
                <a:solidFill>
                  <a:srgbClr val="003366"/>
                </a:solidFill>
                <a:latin typeface="Roboto"/>
                <a:ea typeface="Roboto"/>
                <a:cs typeface="Roboto"/>
                <a:sym typeface="Roboto"/>
              </a:rPr>
              <a:t>Đồ</a:t>
            </a:r>
            <a:r>
              <a:rPr lang="en-US" sz="3150" b="1" i="0" u="none" strike="noStrike" cap="none" dirty="0">
                <a:solidFill>
                  <a:srgbClr val="003366"/>
                </a:solidFill>
                <a:latin typeface="Roboto"/>
                <a:ea typeface="Roboto"/>
                <a:cs typeface="Roboto"/>
                <a:sym typeface="Roboto"/>
              </a:rPr>
              <a:t> Use Case </a:t>
            </a:r>
            <a:r>
              <a:rPr lang="en-US" sz="3150" b="1" i="0" u="none" strike="noStrike" cap="none" dirty="0" err="1">
                <a:solidFill>
                  <a:srgbClr val="003366"/>
                </a:solidFill>
                <a:latin typeface="Roboto"/>
                <a:ea typeface="Roboto"/>
                <a:cs typeface="Roboto"/>
                <a:sym typeface="Roboto"/>
              </a:rPr>
              <a:t>Hệ</a:t>
            </a:r>
            <a:r>
              <a:rPr lang="en-US" sz="3150" b="1" i="0" u="none" strike="noStrike" cap="none" dirty="0">
                <a:solidFill>
                  <a:srgbClr val="003366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3150" b="1" i="0" u="none" strike="noStrike" cap="none" dirty="0" err="1">
                <a:solidFill>
                  <a:srgbClr val="003366"/>
                </a:solidFill>
                <a:latin typeface="Roboto"/>
                <a:ea typeface="Roboto"/>
                <a:cs typeface="Roboto"/>
                <a:sym typeface="Roboto"/>
              </a:rPr>
              <a:t>Thống</a:t>
            </a:r>
            <a:endParaRPr dirty="0"/>
          </a:p>
        </p:txBody>
      </p:sp>
      <p:sp>
        <p:nvSpPr>
          <p:cNvPr id="227" name="Google Shape;227;p19"/>
          <p:cNvSpPr txBox="1"/>
          <p:nvPr/>
        </p:nvSpPr>
        <p:spPr>
          <a:xfrm>
            <a:off x="628651" y="6463061"/>
            <a:ext cx="876300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u="none" strike="noStrike" cap="none">
                <a:solidFill>
                  <a:srgbClr val="003366"/>
                </a:solidFill>
                <a:latin typeface="Open Sans SemiBold"/>
                <a:ea typeface="Open Sans SemiBold"/>
                <a:cs typeface="Open Sans SemiBold"/>
                <a:sym typeface="Open Sans SemiBold"/>
              </a:rPr>
              <a:t>Mytee Studio</a:t>
            </a:r>
            <a:endParaRPr/>
          </a:p>
        </p:txBody>
      </p:sp>
      <p:sp>
        <p:nvSpPr>
          <p:cNvPr id="228" name="Google Shape;228;p19"/>
          <p:cNvSpPr txBox="1"/>
          <p:nvPr/>
        </p:nvSpPr>
        <p:spPr>
          <a:xfrm>
            <a:off x="11382380" y="6534156"/>
            <a:ext cx="428625" cy="1615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Slide 7</a:t>
            </a:r>
            <a:endParaRPr/>
          </a:p>
        </p:txBody>
      </p:sp>
      <p:pic>
        <p:nvPicPr>
          <p:cNvPr id="230" name="Google Shape;230;p19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381000" y="6557962"/>
            <a:ext cx="152400" cy="133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1" name="Google Shape;231;p19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3267075" y="3023294"/>
            <a:ext cx="41910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232" name="Google Shape;232;p19"/>
          <p:cNvSpPr txBox="1"/>
          <p:nvPr/>
        </p:nvSpPr>
        <p:spPr>
          <a:xfrm>
            <a:off x="1801417" y="3690044"/>
            <a:ext cx="3350419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003366"/>
                </a:solidFill>
                <a:latin typeface="Roboto"/>
                <a:ea typeface="Roboto"/>
                <a:cs typeface="Roboto"/>
                <a:sym typeface="Roboto"/>
              </a:rPr>
              <a:t>Customer Actor</a:t>
            </a:r>
            <a:endParaRPr/>
          </a:p>
        </p:txBody>
      </p:sp>
      <p:sp>
        <p:nvSpPr>
          <p:cNvPr id="233" name="Google Shape;233;p19"/>
          <p:cNvSpPr txBox="1"/>
          <p:nvPr/>
        </p:nvSpPr>
        <p:spPr>
          <a:xfrm>
            <a:off x="1881189" y="4099624"/>
            <a:ext cx="3190875" cy="5909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rPr>
              <a:t>Login, Search, Design T-Shirt, Add to Cart, Checkout, View History.</a:t>
            </a:r>
            <a:endParaRPr/>
          </a:p>
        </p:txBody>
      </p:sp>
      <p:pic>
        <p:nvPicPr>
          <p:cNvPr id="234" name="Google Shape;234;p19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929317" y="3619500"/>
            <a:ext cx="333375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5" name="Google Shape;235;p19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8553451" y="3023294"/>
            <a:ext cx="41910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236" name="Google Shape;236;p19"/>
          <p:cNvSpPr txBox="1"/>
          <p:nvPr/>
        </p:nvSpPr>
        <p:spPr>
          <a:xfrm>
            <a:off x="7087789" y="3690044"/>
            <a:ext cx="3350419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003366"/>
                </a:solidFill>
                <a:latin typeface="Roboto"/>
                <a:ea typeface="Roboto"/>
                <a:cs typeface="Roboto"/>
                <a:sym typeface="Roboto"/>
              </a:rPr>
              <a:t>Admin Actor</a:t>
            </a:r>
            <a:endParaRPr/>
          </a:p>
        </p:txBody>
      </p:sp>
      <p:sp>
        <p:nvSpPr>
          <p:cNvPr id="237" name="Google Shape;237;p19"/>
          <p:cNvSpPr txBox="1"/>
          <p:nvPr/>
        </p:nvSpPr>
        <p:spPr>
          <a:xfrm>
            <a:off x="7167565" y="4099624"/>
            <a:ext cx="3190875" cy="5909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rPr>
              <a:t>Manage Users, Manage Products, Process Orders, Download Designs.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2" name="Google Shape;242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3" name="Google Shape;243;p2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1323980"/>
            <a:ext cx="3492400" cy="4962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44" name="Google Shape;244;p20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49652" y="1323980"/>
            <a:ext cx="3492549" cy="4962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45" name="Google Shape;245;p2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127951" y="1323980"/>
            <a:ext cx="3492400" cy="4962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46" name="Google Shape;246;p20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0" y="6381750"/>
            <a:ext cx="1219200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20"/>
          <p:cNvSpPr txBox="1"/>
          <p:nvPr/>
        </p:nvSpPr>
        <p:spPr>
          <a:xfrm>
            <a:off x="571503" y="381001"/>
            <a:ext cx="3562351" cy="9694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03366"/>
                </a:solidFill>
                <a:latin typeface="Roboto"/>
                <a:ea typeface="Roboto"/>
                <a:cs typeface="Roboto"/>
                <a:sym typeface="Roboto"/>
              </a:rPr>
              <a:t>Kiến Trúc Hệ Thống</a:t>
            </a:r>
            <a:endParaRPr/>
          </a:p>
        </p:txBody>
      </p:sp>
      <p:sp>
        <p:nvSpPr>
          <p:cNvPr id="248" name="Google Shape;248;p20"/>
          <p:cNvSpPr txBox="1"/>
          <p:nvPr/>
        </p:nvSpPr>
        <p:spPr>
          <a:xfrm>
            <a:off x="628651" y="6463061"/>
            <a:ext cx="876300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u="none" strike="noStrike" cap="none">
                <a:solidFill>
                  <a:srgbClr val="003366"/>
                </a:solidFill>
                <a:latin typeface="Open Sans SemiBold"/>
                <a:ea typeface="Open Sans SemiBold"/>
                <a:cs typeface="Open Sans SemiBold"/>
                <a:sym typeface="Open Sans SemiBold"/>
              </a:rPr>
              <a:t>Mytee Studio</a:t>
            </a:r>
            <a:endParaRPr/>
          </a:p>
        </p:txBody>
      </p:sp>
      <p:sp>
        <p:nvSpPr>
          <p:cNvPr id="249" name="Google Shape;249;p20"/>
          <p:cNvSpPr txBox="1"/>
          <p:nvPr/>
        </p:nvSpPr>
        <p:spPr>
          <a:xfrm>
            <a:off x="11382380" y="6534156"/>
            <a:ext cx="428625" cy="1615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Slide 8</a:t>
            </a:r>
            <a:endParaRPr/>
          </a:p>
        </p:txBody>
      </p:sp>
      <p:pic>
        <p:nvPicPr>
          <p:cNvPr id="251" name="Google Shape;251;p20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381000" y="6557962"/>
            <a:ext cx="152400" cy="133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2" name="Google Shape;252;p20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2103392" y="1714500"/>
            <a:ext cx="428625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253" name="Google Shape;253;p20"/>
          <p:cNvSpPr txBox="1"/>
          <p:nvPr/>
        </p:nvSpPr>
        <p:spPr>
          <a:xfrm>
            <a:off x="694216" y="2476506"/>
            <a:ext cx="3246968" cy="2160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003366"/>
                </a:solidFill>
                <a:latin typeface="Open Sans"/>
                <a:ea typeface="Open Sans"/>
                <a:cs typeface="Open Sans"/>
                <a:sym typeface="Open Sans"/>
              </a:rPr>
              <a:t>Frontend</a:t>
            </a:r>
            <a:endParaRPr/>
          </a:p>
        </p:txBody>
      </p:sp>
      <p:sp>
        <p:nvSpPr>
          <p:cNvPr id="254" name="Google Shape;254;p20"/>
          <p:cNvSpPr txBox="1"/>
          <p:nvPr/>
        </p:nvSpPr>
        <p:spPr>
          <a:xfrm>
            <a:off x="771529" y="2714625"/>
            <a:ext cx="3092351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rPr>
              <a:t>HTML5, CSS3, JS</a:t>
            </a:r>
            <a:endParaRPr/>
          </a:p>
        </p:txBody>
      </p:sp>
      <p:sp>
        <p:nvSpPr>
          <p:cNvPr id="255" name="Google Shape;255;p20"/>
          <p:cNvSpPr txBox="1"/>
          <p:nvPr/>
        </p:nvSpPr>
        <p:spPr>
          <a:xfrm>
            <a:off x="771529" y="3114675"/>
            <a:ext cx="3092351" cy="258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 dirty="0" smtClean="0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050" b="0" i="0" u="none" strike="noStrike" cap="none" dirty="0" err="1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cho</a:t>
            </a:r>
            <a:r>
              <a:rPr lang="en-US" sz="1050" b="0" i="0" u="none" strike="noStrike" cap="none" dirty="0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050" b="0" i="0" u="none" strike="noStrike" cap="none" dirty="0" err="1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trình</a:t>
            </a:r>
            <a:r>
              <a:rPr lang="en-US" sz="1050" b="0" i="0" u="none" strike="noStrike" cap="none" dirty="0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050" b="0" i="0" u="none" strike="noStrike" cap="none" dirty="0" err="1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thiết</a:t>
            </a:r>
            <a:r>
              <a:rPr lang="en-US" sz="1050" b="0" i="0" u="none" strike="noStrike" cap="none" dirty="0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050" b="0" i="0" u="none" strike="noStrike" cap="none" dirty="0" err="1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kế</a:t>
            </a:r>
            <a:endParaRPr dirty="0"/>
          </a:p>
        </p:txBody>
      </p:sp>
      <p:pic>
        <p:nvPicPr>
          <p:cNvPr id="256" name="Google Shape;256;p20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5810103" y="1714500"/>
            <a:ext cx="571500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257" name="Google Shape;257;p20"/>
          <p:cNvSpPr txBox="1"/>
          <p:nvPr/>
        </p:nvSpPr>
        <p:spPr>
          <a:xfrm>
            <a:off x="4472363" y="2476506"/>
            <a:ext cx="3247124" cy="2160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003366"/>
                </a:solidFill>
                <a:latin typeface="Open Sans"/>
                <a:ea typeface="Open Sans"/>
                <a:cs typeface="Open Sans"/>
                <a:sym typeface="Open Sans"/>
              </a:rPr>
              <a:t>Backend</a:t>
            </a:r>
            <a:endParaRPr/>
          </a:p>
        </p:txBody>
      </p:sp>
      <p:sp>
        <p:nvSpPr>
          <p:cNvPr id="258" name="Google Shape;258;p20"/>
          <p:cNvSpPr txBox="1"/>
          <p:nvPr/>
        </p:nvSpPr>
        <p:spPr>
          <a:xfrm>
            <a:off x="4549677" y="2714625"/>
            <a:ext cx="309249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rPr>
              <a:t>Laravel (PHP)</a:t>
            </a:r>
            <a:endParaRPr/>
          </a:p>
        </p:txBody>
      </p:sp>
      <p:sp>
        <p:nvSpPr>
          <p:cNvPr id="259" name="Google Shape;259;p20"/>
          <p:cNvSpPr txBox="1"/>
          <p:nvPr/>
        </p:nvSpPr>
        <p:spPr>
          <a:xfrm>
            <a:off x="4549677" y="3114675"/>
            <a:ext cx="3092499" cy="258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Mô hình MVC, RESTful Support</a:t>
            </a:r>
            <a:endParaRPr/>
          </a:p>
        </p:txBody>
      </p:sp>
      <p:pic>
        <p:nvPicPr>
          <p:cNvPr id="260" name="Google Shape;260;p20" descr="image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9621742" y="1714500"/>
            <a:ext cx="504825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261" name="Google Shape;261;p20"/>
          <p:cNvSpPr txBox="1"/>
          <p:nvPr/>
        </p:nvSpPr>
        <p:spPr>
          <a:xfrm>
            <a:off x="8250667" y="2476506"/>
            <a:ext cx="3246968" cy="2160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003366"/>
                </a:solidFill>
                <a:latin typeface="Open Sans"/>
                <a:ea typeface="Open Sans"/>
                <a:cs typeface="Open Sans"/>
                <a:sym typeface="Open Sans"/>
              </a:rPr>
              <a:t>Database</a:t>
            </a:r>
            <a:endParaRPr/>
          </a:p>
        </p:txBody>
      </p:sp>
      <p:sp>
        <p:nvSpPr>
          <p:cNvPr id="262" name="Google Shape;262;p20"/>
          <p:cNvSpPr txBox="1"/>
          <p:nvPr/>
        </p:nvSpPr>
        <p:spPr>
          <a:xfrm>
            <a:off x="8327978" y="2714625"/>
            <a:ext cx="3092351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rPr>
              <a:t>MySQL</a:t>
            </a:r>
            <a:endParaRPr/>
          </a:p>
        </p:txBody>
      </p:sp>
      <p:sp>
        <p:nvSpPr>
          <p:cNvPr id="263" name="Google Shape;263;p20"/>
          <p:cNvSpPr txBox="1"/>
          <p:nvPr/>
        </p:nvSpPr>
        <p:spPr>
          <a:xfrm>
            <a:off x="8327978" y="3114675"/>
            <a:ext cx="3092351" cy="258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Quan hệ chặt chẽ, ACID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8" name="Google Shape;268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9" name="Google Shape;269;p2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4129" y="2272605"/>
            <a:ext cx="5286375" cy="392817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0" name="Google Shape;270;p21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0" y="6381750"/>
            <a:ext cx="1219200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271" name="Google Shape;271;p21"/>
          <p:cNvSpPr txBox="1"/>
          <p:nvPr/>
        </p:nvSpPr>
        <p:spPr>
          <a:xfrm>
            <a:off x="571500" y="381001"/>
            <a:ext cx="4581525" cy="9694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03366"/>
                </a:solidFill>
                <a:latin typeface="Roboto"/>
                <a:ea typeface="Roboto"/>
                <a:cs typeface="Roboto"/>
                <a:sym typeface="Roboto"/>
              </a:rPr>
              <a:t>Tổng Quan Cơ Sở Dữ Liệu</a:t>
            </a:r>
            <a:endParaRPr/>
          </a:p>
        </p:txBody>
      </p:sp>
      <p:sp>
        <p:nvSpPr>
          <p:cNvPr id="272" name="Google Shape;272;p21"/>
          <p:cNvSpPr txBox="1"/>
          <p:nvPr/>
        </p:nvSpPr>
        <p:spPr>
          <a:xfrm>
            <a:off x="628651" y="6463061"/>
            <a:ext cx="876300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u="none" strike="noStrike" cap="none">
                <a:solidFill>
                  <a:srgbClr val="003366"/>
                </a:solidFill>
                <a:latin typeface="Open Sans SemiBold"/>
                <a:ea typeface="Open Sans SemiBold"/>
                <a:cs typeface="Open Sans SemiBold"/>
                <a:sym typeface="Open Sans SemiBold"/>
              </a:rPr>
              <a:t>Mytee Studio</a:t>
            </a:r>
            <a:endParaRPr/>
          </a:p>
        </p:txBody>
      </p:sp>
      <p:sp>
        <p:nvSpPr>
          <p:cNvPr id="273" name="Google Shape;273;p21"/>
          <p:cNvSpPr txBox="1"/>
          <p:nvPr/>
        </p:nvSpPr>
        <p:spPr>
          <a:xfrm>
            <a:off x="11382380" y="6534156"/>
            <a:ext cx="428625" cy="1615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Slide 9</a:t>
            </a:r>
            <a:endParaRPr/>
          </a:p>
        </p:txBody>
      </p:sp>
      <p:pic>
        <p:nvPicPr>
          <p:cNvPr id="275" name="Google Shape;275;p21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381000" y="6557962"/>
            <a:ext cx="152400" cy="133350"/>
          </a:xfrm>
          <a:prstGeom prst="rect">
            <a:avLst/>
          </a:prstGeom>
          <a:noFill/>
          <a:ln>
            <a:noFill/>
          </a:ln>
        </p:spPr>
      </p:pic>
      <p:sp>
        <p:nvSpPr>
          <p:cNvPr id="276" name="Google Shape;276;p21"/>
          <p:cNvSpPr txBox="1"/>
          <p:nvPr/>
        </p:nvSpPr>
        <p:spPr>
          <a:xfrm>
            <a:off x="571505" y="2438400"/>
            <a:ext cx="528637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rPr>
              <a:t>Mô hình thực thể kết hợp (ERD) bao gồm các bảng chính:</a:t>
            </a:r>
            <a:endParaRPr/>
          </a:p>
        </p:txBody>
      </p:sp>
      <p:sp>
        <p:nvSpPr>
          <p:cNvPr id="278" name="Google Shape;278;p21"/>
          <p:cNvSpPr txBox="1"/>
          <p:nvPr/>
        </p:nvSpPr>
        <p:spPr>
          <a:xfrm>
            <a:off x="904875" y="2933700"/>
            <a:ext cx="495300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05B96"/>
                </a:solidFill>
                <a:latin typeface="Open Sans"/>
                <a:ea typeface="Open Sans"/>
                <a:cs typeface="Open Sans"/>
                <a:sym typeface="Open Sans"/>
              </a:rPr>
              <a:t>users:</a:t>
            </a:r>
            <a:r>
              <a:rPr lang="en-US" sz="1500" b="0" i="0" u="none" strike="noStrike" cap="none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rPr>
              <a:t> Thông tin người dùng.</a:t>
            </a:r>
            <a:endParaRPr/>
          </a:p>
        </p:txBody>
      </p:sp>
      <p:sp>
        <p:nvSpPr>
          <p:cNvPr id="279" name="Google Shape;279;p21"/>
          <p:cNvSpPr txBox="1"/>
          <p:nvPr/>
        </p:nvSpPr>
        <p:spPr>
          <a:xfrm>
            <a:off x="904875" y="3381375"/>
            <a:ext cx="495300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05B96"/>
                </a:solidFill>
                <a:latin typeface="Open Sans"/>
                <a:ea typeface="Open Sans"/>
                <a:cs typeface="Open Sans"/>
                <a:sym typeface="Open Sans"/>
              </a:rPr>
              <a:t>products:</a:t>
            </a:r>
            <a:r>
              <a:rPr lang="en-US" sz="1500" b="0" i="0" u="none" strike="noStrike" cap="none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rPr>
              <a:t> Thông tin áo gốc.</a:t>
            </a:r>
            <a:endParaRPr/>
          </a:p>
        </p:txBody>
      </p:sp>
      <p:sp>
        <p:nvSpPr>
          <p:cNvPr id="280" name="Google Shape;280;p21"/>
          <p:cNvSpPr txBox="1"/>
          <p:nvPr/>
        </p:nvSpPr>
        <p:spPr>
          <a:xfrm>
            <a:off x="904875" y="3829050"/>
            <a:ext cx="495300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05B96"/>
                </a:solidFill>
                <a:latin typeface="Open Sans"/>
                <a:ea typeface="Open Sans"/>
                <a:cs typeface="Open Sans"/>
                <a:sym typeface="Open Sans"/>
              </a:rPr>
              <a:t>product_colors:</a:t>
            </a:r>
            <a:r>
              <a:rPr lang="en-US" sz="1500" b="0" i="0" u="none" strike="noStrike" cap="none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rPr>
              <a:t> Biến thể màu sắc &amp; ảnh Mockup.</a:t>
            </a:r>
            <a:endParaRPr/>
          </a:p>
        </p:txBody>
      </p:sp>
      <p:sp>
        <p:nvSpPr>
          <p:cNvPr id="281" name="Google Shape;281;p21"/>
          <p:cNvSpPr txBox="1"/>
          <p:nvPr/>
        </p:nvSpPr>
        <p:spPr>
          <a:xfrm>
            <a:off x="904875" y="4276725"/>
            <a:ext cx="495300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05B96"/>
                </a:solidFill>
                <a:latin typeface="Open Sans"/>
                <a:ea typeface="Open Sans"/>
                <a:cs typeface="Open Sans"/>
                <a:sym typeface="Open Sans"/>
              </a:rPr>
              <a:t>saved_designs:</a:t>
            </a:r>
            <a:r>
              <a:rPr lang="en-US" sz="1500" b="0" i="0" u="none" strike="noStrike" cap="none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rPr>
              <a:t> JSON cấu hình thiết kế của khách.</a:t>
            </a:r>
            <a:endParaRPr/>
          </a:p>
        </p:txBody>
      </p:sp>
      <p:sp>
        <p:nvSpPr>
          <p:cNvPr id="282" name="Google Shape;282;p21"/>
          <p:cNvSpPr txBox="1"/>
          <p:nvPr/>
        </p:nvSpPr>
        <p:spPr>
          <a:xfrm>
            <a:off x="904875" y="4724400"/>
            <a:ext cx="495300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05B96"/>
                </a:solidFill>
                <a:latin typeface="Open Sans"/>
                <a:ea typeface="Open Sans"/>
                <a:cs typeface="Open Sans"/>
                <a:sym typeface="Open Sans"/>
              </a:rPr>
              <a:t>orders / order_items:</a:t>
            </a:r>
            <a:r>
              <a:rPr lang="en-US" sz="1500" b="0" i="0" u="none" strike="noStrike" cap="none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rPr>
              <a:t> Đơn hàng và chi tiết.</a:t>
            </a:r>
            <a:endParaRPr/>
          </a:p>
        </p:txBody>
      </p:sp>
      <p:pic>
        <p:nvPicPr>
          <p:cNvPr id="283" name="Google Shape;283;p21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71505" y="2952756"/>
            <a:ext cx="104775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4" name="Google Shape;284;p21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71505" y="3400425"/>
            <a:ext cx="104775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5" name="Google Shape;285;p21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71505" y="3848106"/>
            <a:ext cx="104775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6" name="Google Shape;286;p21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71505" y="4295781"/>
            <a:ext cx="104775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7" name="Google Shape;287;p21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71505" y="4743456"/>
            <a:ext cx="104775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2" name="Picture 21"/>
          <p:cNvPicPr/>
          <p:nvPr/>
        </p:nvPicPr>
        <p:blipFill>
          <a:blip r:embed="rId8"/>
          <a:stretch>
            <a:fillRect/>
          </a:stretch>
        </p:blipFill>
        <p:spPr>
          <a:xfrm>
            <a:off x="6448424" y="2349896"/>
            <a:ext cx="5172079" cy="3746103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2" name="Google Shape;292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3" name="Google Shape;293;p2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676400" y="2309812"/>
            <a:ext cx="8839200" cy="2990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4" name="Google Shape;294;p22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0" y="6381750"/>
            <a:ext cx="1219200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295" name="Google Shape;295;p22"/>
          <p:cNvSpPr txBox="1"/>
          <p:nvPr/>
        </p:nvSpPr>
        <p:spPr>
          <a:xfrm>
            <a:off x="571500" y="381001"/>
            <a:ext cx="3657600" cy="9694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03366"/>
                </a:solidFill>
                <a:latin typeface="Roboto"/>
                <a:ea typeface="Roboto"/>
                <a:cs typeface="Roboto"/>
                <a:sym typeface="Roboto"/>
              </a:rPr>
              <a:t>Chi Tiết Bảng: Users</a:t>
            </a:r>
            <a:endParaRPr/>
          </a:p>
        </p:txBody>
      </p:sp>
      <p:sp>
        <p:nvSpPr>
          <p:cNvPr id="296" name="Google Shape;296;p22"/>
          <p:cNvSpPr txBox="1"/>
          <p:nvPr/>
        </p:nvSpPr>
        <p:spPr>
          <a:xfrm>
            <a:off x="628651" y="6463061"/>
            <a:ext cx="876300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u="none" strike="noStrike" cap="none">
                <a:solidFill>
                  <a:srgbClr val="003366"/>
                </a:solidFill>
                <a:latin typeface="Open Sans SemiBold"/>
                <a:ea typeface="Open Sans SemiBold"/>
                <a:cs typeface="Open Sans SemiBold"/>
                <a:sym typeface="Open Sans SemiBold"/>
              </a:rPr>
              <a:t>Mytee Studio</a:t>
            </a:r>
            <a:endParaRPr/>
          </a:p>
        </p:txBody>
      </p:sp>
      <p:sp>
        <p:nvSpPr>
          <p:cNvPr id="297" name="Google Shape;297;p22"/>
          <p:cNvSpPr txBox="1"/>
          <p:nvPr/>
        </p:nvSpPr>
        <p:spPr>
          <a:xfrm>
            <a:off x="11306180" y="6534156"/>
            <a:ext cx="504825" cy="1615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Slide 10</a:t>
            </a:r>
            <a:endParaRPr/>
          </a:p>
        </p:txBody>
      </p:sp>
      <p:sp>
        <p:nvSpPr>
          <p:cNvPr id="299" name="Google Shape;299;p22"/>
          <p:cNvSpPr txBox="1"/>
          <p:nvPr/>
        </p:nvSpPr>
        <p:spPr>
          <a:xfrm>
            <a:off x="2009778" y="2595568"/>
            <a:ext cx="8631079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003366"/>
                </a:solidFill>
                <a:latin typeface="Roboto"/>
                <a:ea typeface="Roboto"/>
                <a:cs typeface="Roboto"/>
                <a:sym typeface="Roboto"/>
              </a:rPr>
              <a:t>Schema Structure</a:t>
            </a:r>
            <a:endParaRPr/>
          </a:p>
        </p:txBody>
      </p:sp>
      <p:sp>
        <p:nvSpPr>
          <p:cNvPr id="300" name="Google Shape;300;p22"/>
          <p:cNvSpPr/>
          <p:nvPr/>
        </p:nvSpPr>
        <p:spPr>
          <a:xfrm>
            <a:off x="2009777" y="2957518"/>
            <a:ext cx="8220075" cy="952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01" name="Google Shape;301;p22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381000" y="6557962"/>
            <a:ext cx="152400" cy="133350"/>
          </a:xfrm>
          <a:prstGeom prst="rect">
            <a:avLst/>
          </a:prstGeom>
          <a:noFill/>
          <a:ln>
            <a:noFill/>
          </a:ln>
        </p:spPr>
      </p:pic>
      <p:sp>
        <p:nvSpPr>
          <p:cNvPr id="302" name="Google Shape;302;p22"/>
          <p:cNvSpPr txBox="1"/>
          <p:nvPr/>
        </p:nvSpPr>
        <p:spPr>
          <a:xfrm>
            <a:off x="2009775" y="3157538"/>
            <a:ext cx="1905000" cy="230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000000"/>
                </a:solidFill>
                <a:latin typeface="Courier New"/>
                <a:ea typeface="Courier New"/>
                <a:cs typeface="Courier New"/>
                <a:sym typeface="Courier New"/>
              </a:rPr>
              <a:t>id</a:t>
            </a:r>
            <a:endParaRPr/>
          </a:p>
        </p:txBody>
      </p:sp>
      <p:sp>
        <p:nvSpPr>
          <p:cNvPr id="303" name="Google Shape;303;p22"/>
          <p:cNvSpPr txBox="1"/>
          <p:nvPr/>
        </p:nvSpPr>
        <p:spPr>
          <a:xfrm>
            <a:off x="4105279" y="3157538"/>
            <a:ext cx="6124575" cy="230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64748B"/>
                </a:solidFill>
                <a:latin typeface="Courier New"/>
                <a:ea typeface="Courier New"/>
                <a:cs typeface="Courier New"/>
                <a:sym typeface="Courier New"/>
              </a:rPr>
              <a:t>PK, BigInt, Auto Increment</a:t>
            </a:r>
            <a:endParaRPr/>
          </a:p>
        </p:txBody>
      </p:sp>
      <p:sp>
        <p:nvSpPr>
          <p:cNvPr id="304" name="Google Shape;304;p22"/>
          <p:cNvSpPr txBox="1"/>
          <p:nvPr/>
        </p:nvSpPr>
        <p:spPr>
          <a:xfrm>
            <a:off x="2009775" y="3567113"/>
            <a:ext cx="1905000" cy="230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000000"/>
                </a:solidFill>
                <a:latin typeface="Courier New"/>
                <a:ea typeface="Courier New"/>
                <a:cs typeface="Courier New"/>
                <a:sym typeface="Courier New"/>
              </a:rPr>
              <a:t>name</a:t>
            </a:r>
            <a:endParaRPr/>
          </a:p>
        </p:txBody>
      </p:sp>
      <p:sp>
        <p:nvSpPr>
          <p:cNvPr id="305" name="Google Shape;305;p22"/>
          <p:cNvSpPr txBox="1"/>
          <p:nvPr/>
        </p:nvSpPr>
        <p:spPr>
          <a:xfrm>
            <a:off x="4105279" y="3567113"/>
            <a:ext cx="6124575" cy="230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64748B"/>
                </a:solidFill>
                <a:latin typeface="Courier New"/>
                <a:ea typeface="Courier New"/>
                <a:cs typeface="Courier New"/>
                <a:sym typeface="Courier New"/>
              </a:rPr>
              <a:t>Varchar(255) - Tên hiển thị</a:t>
            </a:r>
            <a:endParaRPr/>
          </a:p>
        </p:txBody>
      </p:sp>
      <p:sp>
        <p:nvSpPr>
          <p:cNvPr id="306" name="Google Shape;306;p22"/>
          <p:cNvSpPr txBox="1"/>
          <p:nvPr/>
        </p:nvSpPr>
        <p:spPr>
          <a:xfrm>
            <a:off x="2009775" y="3976688"/>
            <a:ext cx="1905000" cy="230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000000"/>
                </a:solidFill>
                <a:latin typeface="Courier New"/>
                <a:ea typeface="Courier New"/>
                <a:cs typeface="Courier New"/>
                <a:sym typeface="Courier New"/>
              </a:rPr>
              <a:t>email</a:t>
            </a:r>
            <a:endParaRPr/>
          </a:p>
        </p:txBody>
      </p:sp>
      <p:sp>
        <p:nvSpPr>
          <p:cNvPr id="307" name="Google Shape;307;p22"/>
          <p:cNvSpPr txBox="1"/>
          <p:nvPr/>
        </p:nvSpPr>
        <p:spPr>
          <a:xfrm>
            <a:off x="4105279" y="3976688"/>
            <a:ext cx="6124575" cy="230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64748B"/>
                </a:solidFill>
                <a:latin typeface="Courier New"/>
                <a:ea typeface="Courier New"/>
                <a:cs typeface="Courier New"/>
                <a:sym typeface="Courier New"/>
              </a:rPr>
              <a:t>Varchar(255) - Unique, Đăng nhập</a:t>
            </a:r>
            <a:endParaRPr/>
          </a:p>
        </p:txBody>
      </p:sp>
      <p:sp>
        <p:nvSpPr>
          <p:cNvPr id="308" name="Google Shape;308;p22"/>
          <p:cNvSpPr txBox="1"/>
          <p:nvPr/>
        </p:nvSpPr>
        <p:spPr>
          <a:xfrm>
            <a:off x="2009775" y="4386263"/>
            <a:ext cx="1905000" cy="230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000000"/>
                </a:solidFill>
                <a:latin typeface="Courier New"/>
                <a:ea typeface="Courier New"/>
                <a:cs typeface="Courier New"/>
                <a:sym typeface="Courier New"/>
              </a:rPr>
              <a:t>password</a:t>
            </a:r>
            <a:endParaRPr/>
          </a:p>
        </p:txBody>
      </p:sp>
      <p:sp>
        <p:nvSpPr>
          <p:cNvPr id="309" name="Google Shape;309;p22"/>
          <p:cNvSpPr txBox="1"/>
          <p:nvPr/>
        </p:nvSpPr>
        <p:spPr>
          <a:xfrm>
            <a:off x="4105279" y="4386263"/>
            <a:ext cx="6124575" cy="230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64748B"/>
                </a:solidFill>
                <a:latin typeface="Courier New"/>
                <a:ea typeface="Courier New"/>
                <a:cs typeface="Courier New"/>
                <a:sym typeface="Courier New"/>
              </a:rPr>
              <a:t>Varchar - Hash bảo mật</a:t>
            </a:r>
            <a:endParaRPr/>
          </a:p>
        </p:txBody>
      </p:sp>
      <p:sp>
        <p:nvSpPr>
          <p:cNvPr id="310" name="Google Shape;310;p22"/>
          <p:cNvSpPr txBox="1"/>
          <p:nvPr/>
        </p:nvSpPr>
        <p:spPr>
          <a:xfrm>
            <a:off x="2009775" y="4795838"/>
            <a:ext cx="1905000" cy="230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000000"/>
                </a:solidFill>
                <a:latin typeface="Courier New"/>
                <a:ea typeface="Courier New"/>
                <a:cs typeface="Courier New"/>
                <a:sym typeface="Courier New"/>
              </a:rPr>
              <a:t>role</a:t>
            </a:r>
            <a:endParaRPr/>
          </a:p>
        </p:txBody>
      </p:sp>
      <p:sp>
        <p:nvSpPr>
          <p:cNvPr id="311" name="Google Shape;311;p22"/>
          <p:cNvSpPr txBox="1"/>
          <p:nvPr/>
        </p:nvSpPr>
        <p:spPr>
          <a:xfrm>
            <a:off x="4105279" y="4795838"/>
            <a:ext cx="6124575" cy="230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64748B"/>
                </a:solidFill>
                <a:latin typeface="Courier New"/>
                <a:ea typeface="Courier New"/>
                <a:cs typeface="Courier New"/>
                <a:sym typeface="Courier New"/>
              </a:rPr>
              <a:t>Enum('admin', 'customer') - Phân quyền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6" name="Google Shape;316;p2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7" name="Google Shape;317;p2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5" y="2786062"/>
            <a:ext cx="5286375" cy="2038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8" name="Google Shape;318;p23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0" y="6381750"/>
            <a:ext cx="1219200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319" name="Google Shape;319;p23"/>
          <p:cNvSpPr txBox="1"/>
          <p:nvPr/>
        </p:nvSpPr>
        <p:spPr>
          <a:xfrm>
            <a:off x="571504" y="381001"/>
            <a:ext cx="4238625" cy="9694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03366"/>
                </a:solidFill>
                <a:latin typeface="Roboto"/>
                <a:ea typeface="Roboto"/>
                <a:cs typeface="Roboto"/>
                <a:sym typeface="Roboto"/>
              </a:rPr>
              <a:t>Chi Tiết Bảng: Products</a:t>
            </a:r>
            <a:endParaRPr/>
          </a:p>
        </p:txBody>
      </p:sp>
      <p:sp>
        <p:nvSpPr>
          <p:cNvPr id="320" name="Google Shape;320;p23"/>
          <p:cNvSpPr txBox="1"/>
          <p:nvPr/>
        </p:nvSpPr>
        <p:spPr>
          <a:xfrm>
            <a:off x="628651" y="6463061"/>
            <a:ext cx="876300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u="none" strike="noStrike" cap="none">
                <a:solidFill>
                  <a:srgbClr val="003366"/>
                </a:solidFill>
                <a:latin typeface="Open Sans SemiBold"/>
                <a:ea typeface="Open Sans SemiBold"/>
                <a:cs typeface="Open Sans SemiBold"/>
                <a:sym typeface="Open Sans SemiBold"/>
              </a:rPr>
              <a:t>Mytee Studio</a:t>
            </a:r>
            <a:endParaRPr/>
          </a:p>
        </p:txBody>
      </p:sp>
      <p:sp>
        <p:nvSpPr>
          <p:cNvPr id="321" name="Google Shape;321;p23"/>
          <p:cNvSpPr txBox="1"/>
          <p:nvPr/>
        </p:nvSpPr>
        <p:spPr>
          <a:xfrm>
            <a:off x="11306180" y="6534156"/>
            <a:ext cx="504825" cy="1615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Slide 11</a:t>
            </a:r>
            <a:endParaRPr/>
          </a:p>
        </p:txBody>
      </p:sp>
      <p:sp>
        <p:nvSpPr>
          <p:cNvPr id="322" name="Google Shape;322;p23"/>
          <p:cNvSpPr/>
          <p:nvPr/>
        </p:nvSpPr>
        <p:spPr>
          <a:xfrm>
            <a:off x="2405063" y="595312"/>
            <a:ext cx="57150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23" name="Google Shape;323;p23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381000" y="6557962"/>
            <a:ext cx="152400" cy="133350"/>
          </a:xfrm>
          <a:prstGeom prst="rect">
            <a:avLst/>
          </a:prstGeom>
          <a:noFill/>
          <a:ln>
            <a:noFill/>
          </a:ln>
        </p:spPr>
      </p:pic>
      <p:sp>
        <p:nvSpPr>
          <p:cNvPr id="324" name="Google Shape;324;p23"/>
          <p:cNvSpPr txBox="1"/>
          <p:nvPr/>
        </p:nvSpPr>
        <p:spPr>
          <a:xfrm>
            <a:off x="904875" y="3071817"/>
            <a:ext cx="4900612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003366"/>
                </a:solidFill>
                <a:latin typeface="Roboto"/>
                <a:ea typeface="Roboto"/>
                <a:cs typeface="Roboto"/>
                <a:sym typeface="Roboto"/>
              </a:rPr>
              <a:t>Vai Trò</a:t>
            </a:r>
            <a:endParaRPr/>
          </a:p>
        </p:txBody>
      </p:sp>
      <p:sp>
        <p:nvSpPr>
          <p:cNvPr id="325" name="Google Shape;325;p23"/>
          <p:cNvSpPr txBox="1"/>
          <p:nvPr/>
        </p:nvSpPr>
        <p:spPr>
          <a:xfrm>
            <a:off x="904877" y="3481387"/>
            <a:ext cx="4667251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rPr>
              <a:t>Lưu trữ thông tin gốc của các dòng áo (Base Product). Ví dụ: Áo thun cổ tròn, Áo Polo, Áo Hoodie.</a:t>
            </a:r>
            <a:endParaRPr/>
          </a:p>
        </p:txBody>
      </p:sp>
      <p:sp>
        <p:nvSpPr>
          <p:cNvPr id="326" name="Google Shape;326;p23"/>
          <p:cNvSpPr txBox="1"/>
          <p:nvPr/>
        </p:nvSpPr>
        <p:spPr>
          <a:xfrm>
            <a:off x="904877" y="4233862"/>
            <a:ext cx="4667251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rPr>
              <a:t>Chưa bao gồm thông tin về màu sắc cụ thể.</a:t>
            </a:r>
            <a:endParaRPr/>
          </a:p>
        </p:txBody>
      </p:sp>
      <p:sp>
        <p:nvSpPr>
          <p:cNvPr id="327" name="Google Shape;327;p23"/>
          <p:cNvSpPr txBox="1"/>
          <p:nvPr/>
        </p:nvSpPr>
        <p:spPr>
          <a:xfrm>
            <a:off x="6667500" y="2909887"/>
            <a:ext cx="495300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05B96"/>
                </a:solidFill>
                <a:latin typeface="Open Sans"/>
                <a:ea typeface="Open Sans"/>
                <a:cs typeface="Open Sans"/>
                <a:sym typeface="Open Sans"/>
              </a:rPr>
              <a:t>name:</a:t>
            </a:r>
            <a:r>
              <a:rPr lang="en-US" sz="1500" b="0" i="0" u="none" strike="noStrike" cap="none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rPr>
              <a:t> Tên sản phẩm.</a:t>
            </a:r>
            <a:endParaRPr/>
          </a:p>
        </p:txBody>
      </p:sp>
      <p:sp>
        <p:nvSpPr>
          <p:cNvPr id="328" name="Google Shape;328;p23"/>
          <p:cNvSpPr txBox="1"/>
          <p:nvPr/>
        </p:nvSpPr>
        <p:spPr>
          <a:xfrm>
            <a:off x="6667500" y="3357562"/>
            <a:ext cx="495300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05B96"/>
                </a:solidFill>
                <a:latin typeface="Open Sans"/>
                <a:ea typeface="Open Sans"/>
                <a:cs typeface="Open Sans"/>
                <a:sym typeface="Open Sans"/>
              </a:rPr>
              <a:t>description:</a:t>
            </a:r>
            <a:r>
              <a:rPr lang="en-US" sz="1500" b="0" i="0" u="none" strike="noStrike" cap="none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rPr>
              <a:t> Mô tả chất liệu vải.</a:t>
            </a:r>
            <a:endParaRPr/>
          </a:p>
        </p:txBody>
      </p:sp>
      <p:sp>
        <p:nvSpPr>
          <p:cNvPr id="329" name="Google Shape;329;p23"/>
          <p:cNvSpPr txBox="1"/>
          <p:nvPr/>
        </p:nvSpPr>
        <p:spPr>
          <a:xfrm>
            <a:off x="6667500" y="3805237"/>
            <a:ext cx="495300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05B96"/>
                </a:solidFill>
                <a:latin typeface="Open Sans"/>
                <a:ea typeface="Open Sans"/>
                <a:cs typeface="Open Sans"/>
                <a:sym typeface="Open Sans"/>
              </a:rPr>
              <a:t>price:</a:t>
            </a:r>
            <a:r>
              <a:rPr lang="en-US" sz="1500" b="0" i="0" u="none" strike="noStrike" cap="none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rPr>
              <a:t> Giá bán niêm yết.</a:t>
            </a:r>
            <a:endParaRPr/>
          </a:p>
        </p:txBody>
      </p:sp>
      <p:sp>
        <p:nvSpPr>
          <p:cNvPr id="330" name="Google Shape;330;p23"/>
          <p:cNvSpPr txBox="1"/>
          <p:nvPr/>
        </p:nvSpPr>
        <p:spPr>
          <a:xfrm>
            <a:off x="6667500" y="4252912"/>
            <a:ext cx="495300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05B96"/>
                </a:solidFill>
                <a:latin typeface="Open Sans"/>
                <a:ea typeface="Open Sans"/>
                <a:cs typeface="Open Sans"/>
                <a:sym typeface="Open Sans"/>
              </a:rPr>
              <a:t>import_price:</a:t>
            </a:r>
            <a:r>
              <a:rPr lang="en-US" sz="1500" b="0" i="0" u="none" strike="noStrike" cap="none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rPr>
              <a:t> Giá nhập (cho thống kê lợi nhuận).</a:t>
            </a:r>
            <a:endParaRPr/>
          </a:p>
        </p:txBody>
      </p:sp>
      <p:pic>
        <p:nvPicPr>
          <p:cNvPr id="331" name="Google Shape;331;p23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334129" y="2928943"/>
            <a:ext cx="104775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32" name="Google Shape;332;p23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334129" y="3376613"/>
            <a:ext cx="104775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33" name="Google Shape;333;p23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334129" y="3824287"/>
            <a:ext cx="104775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34" name="Google Shape;334;p23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334129" y="4271968"/>
            <a:ext cx="104775" cy="219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9" name="Google Shape;339;p2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40" name="Google Shape;340;p2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4129" y="2805112"/>
            <a:ext cx="5286375" cy="2000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41" name="Google Shape;341;p2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0" y="6381750"/>
            <a:ext cx="1219200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342" name="Google Shape;342;p24"/>
          <p:cNvSpPr txBox="1"/>
          <p:nvPr/>
        </p:nvSpPr>
        <p:spPr>
          <a:xfrm>
            <a:off x="571503" y="381001"/>
            <a:ext cx="5295900" cy="9694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03366"/>
                </a:solidFill>
                <a:latin typeface="Roboto"/>
                <a:ea typeface="Roboto"/>
                <a:cs typeface="Roboto"/>
                <a:sym typeface="Roboto"/>
              </a:rPr>
              <a:t>Chi Tiết Bảng: Product Colors</a:t>
            </a:r>
            <a:endParaRPr/>
          </a:p>
        </p:txBody>
      </p:sp>
      <p:sp>
        <p:nvSpPr>
          <p:cNvPr id="343" name="Google Shape;343;p24"/>
          <p:cNvSpPr txBox="1"/>
          <p:nvPr/>
        </p:nvSpPr>
        <p:spPr>
          <a:xfrm>
            <a:off x="628651" y="6463061"/>
            <a:ext cx="876300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u="none" strike="noStrike" cap="none">
                <a:solidFill>
                  <a:srgbClr val="003366"/>
                </a:solidFill>
                <a:latin typeface="Open Sans SemiBold"/>
                <a:ea typeface="Open Sans SemiBold"/>
                <a:cs typeface="Open Sans SemiBold"/>
                <a:sym typeface="Open Sans SemiBold"/>
              </a:rPr>
              <a:t>Mytee Studio</a:t>
            </a:r>
            <a:endParaRPr/>
          </a:p>
        </p:txBody>
      </p:sp>
      <p:sp>
        <p:nvSpPr>
          <p:cNvPr id="344" name="Google Shape;344;p24"/>
          <p:cNvSpPr txBox="1"/>
          <p:nvPr/>
        </p:nvSpPr>
        <p:spPr>
          <a:xfrm>
            <a:off x="11306180" y="6534156"/>
            <a:ext cx="504825" cy="1615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Slide 12</a:t>
            </a:r>
            <a:endParaRPr/>
          </a:p>
        </p:txBody>
      </p:sp>
      <p:sp>
        <p:nvSpPr>
          <p:cNvPr id="345" name="Google Shape;345;p24"/>
          <p:cNvSpPr/>
          <p:nvPr/>
        </p:nvSpPr>
        <p:spPr>
          <a:xfrm>
            <a:off x="2933703" y="595312"/>
            <a:ext cx="57150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46" name="Google Shape;346;p24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381000" y="6557962"/>
            <a:ext cx="152400" cy="133350"/>
          </a:xfrm>
          <a:prstGeom prst="rect">
            <a:avLst/>
          </a:prstGeom>
          <a:noFill/>
          <a:ln>
            <a:noFill/>
          </a:ln>
        </p:spPr>
      </p:pic>
      <p:sp>
        <p:nvSpPr>
          <p:cNvPr id="347" name="Google Shape;347;p24"/>
          <p:cNvSpPr txBox="1"/>
          <p:nvPr/>
        </p:nvSpPr>
        <p:spPr>
          <a:xfrm>
            <a:off x="571500" y="3381375"/>
            <a:ext cx="5550693" cy="2160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Mục Đích</a:t>
            </a:r>
            <a:endParaRPr/>
          </a:p>
        </p:txBody>
      </p:sp>
      <p:sp>
        <p:nvSpPr>
          <p:cNvPr id="348" name="Google Shape;348;p24"/>
          <p:cNvSpPr txBox="1"/>
          <p:nvPr/>
        </p:nvSpPr>
        <p:spPr>
          <a:xfrm>
            <a:off x="571505" y="3619500"/>
            <a:ext cx="5286375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rPr>
              <a:t>Quản lý các biến thể màu sắc cho từng sản phẩm và chứa ảnh phôi (Mockup) tương ứng.</a:t>
            </a:r>
            <a:endParaRPr/>
          </a:p>
        </p:txBody>
      </p:sp>
      <p:sp>
        <p:nvSpPr>
          <p:cNvPr id="349" name="Google Shape;349;p24"/>
          <p:cNvSpPr txBox="1"/>
          <p:nvPr/>
        </p:nvSpPr>
        <p:spPr>
          <a:xfrm>
            <a:off x="6667501" y="3090865"/>
            <a:ext cx="4667251" cy="300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1" i="0" u="none" strike="noStrike" cap="none">
                <a:solidFill>
                  <a:srgbClr val="005B96"/>
                </a:solidFill>
                <a:latin typeface="Arial"/>
                <a:ea typeface="Arial"/>
                <a:cs typeface="Arial"/>
                <a:sym typeface="Arial"/>
              </a:rPr>
              <a:t>product_id</a:t>
            </a:r>
            <a:r>
              <a:rPr lang="en-US" sz="975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FK -&gt; products </a:t>
            </a:r>
            <a:r>
              <a:rPr lang="en-US" sz="975" b="1" i="0" u="none" strike="noStrike" cap="none">
                <a:solidFill>
                  <a:srgbClr val="005B96"/>
                </a:solidFill>
                <a:latin typeface="Arial"/>
                <a:ea typeface="Arial"/>
                <a:cs typeface="Arial"/>
                <a:sym typeface="Arial"/>
              </a:rPr>
              <a:t>color_name</a:t>
            </a:r>
            <a:r>
              <a:rPr lang="en-US" sz="975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Tên màu (VD: Red) </a:t>
            </a:r>
            <a:r>
              <a:rPr lang="en-US" sz="975" b="1" i="0" u="none" strike="noStrike" cap="none">
                <a:solidFill>
                  <a:srgbClr val="005B96"/>
                </a:solidFill>
                <a:latin typeface="Arial"/>
                <a:ea typeface="Arial"/>
                <a:cs typeface="Arial"/>
                <a:sym typeface="Arial"/>
              </a:rPr>
              <a:t>hex_code</a:t>
            </a:r>
            <a:r>
              <a:rPr lang="en-US" sz="975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Mã màu (#FF0000) </a:t>
            </a:r>
            <a:r>
              <a:rPr lang="en-US" sz="975" b="1" i="0" u="none" strike="noStrike" cap="none">
                <a:solidFill>
                  <a:srgbClr val="005B96"/>
                </a:solidFill>
                <a:latin typeface="Arial"/>
                <a:ea typeface="Arial"/>
                <a:cs typeface="Arial"/>
                <a:sym typeface="Arial"/>
              </a:rPr>
              <a:t>front_img</a:t>
            </a:r>
            <a:r>
              <a:rPr lang="en-US" sz="975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URL ảnh mặt trước </a:t>
            </a:r>
            <a:r>
              <a:rPr lang="en-US" sz="975" b="1" i="0" u="none" strike="noStrike" cap="none">
                <a:solidFill>
                  <a:srgbClr val="005B96"/>
                </a:solidFill>
                <a:latin typeface="Arial"/>
                <a:ea typeface="Arial"/>
                <a:cs typeface="Arial"/>
                <a:sym typeface="Arial"/>
              </a:rPr>
              <a:t>back_img</a:t>
            </a:r>
            <a:r>
              <a:rPr lang="en-US" sz="975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URL ảnh mặt sau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4" name="Google Shape;354;p2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55" name="Google Shape;355;p2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128837"/>
            <a:ext cx="11049000" cy="3352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56" name="Google Shape;356;p2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66777" y="3328987"/>
            <a:ext cx="10458451" cy="1409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57" name="Google Shape;357;p25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0" y="6381750"/>
            <a:ext cx="1219200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358" name="Google Shape;358;p25"/>
          <p:cNvSpPr txBox="1"/>
          <p:nvPr/>
        </p:nvSpPr>
        <p:spPr>
          <a:xfrm>
            <a:off x="571500" y="381001"/>
            <a:ext cx="5267325" cy="9694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03366"/>
                </a:solidFill>
                <a:latin typeface="Roboto"/>
                <a:ea typeface="Roboto"/>
                <a:cs typeface="Roboto"/>
                <a:sym typeface="Roboto"/>
              </a:rPr>
              <a:t>Chi Tiết Bảng: Saved Designs</a:t>
            </a:r>
            <a:endParaRPr/>
          </a:p>
        </p:txBody>
      </p:sp>
      <p:sp>
        <p:nvSpPr>
          <p:cNvPr id="359" name="Google Shape;359;p25"/>
          <p:cNvSpPr txBox="1"/>
          <p:nvPr/>
        </p:nvSpPr>
        <p:spPr>
          <a:xfrm>
            <a:off x="628651" y="6463061"/>
            <a:ext cx="876300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u="none" strike="noStrike" cap="none">
                <a:solidFill>
                  <a:srgbClr val="003366"/>
                </a:solidFill>
                <a:latin typeface="Open Sans SemiBold"/>
                <a:ea typeface="Open Sans SemiBold"/>
                <a:cs typeface="Open Sans SemiBold"/>
                <a:sym typeface="Open Sans SemiBold"/>
              </a:rPr>
              <a:t>Mytee Studio</a:t>
            </a:r>
            <a:endParaRPr/>
          </a:p>
        </p:txBody>
      </p:sp>
      <p:sp>
        <p:nvSpPr>
          <p:cNvPr id="360" name="Google Shape;360;p25"/>
          <p:cNvSpPr txBox="1"/>
          <p:nvPr/>
        </p:nvSpPr>
        <p:spPr>
          <a:xfrm>
            <a:off x="11306180" y="6534156"/>
            <a:ext cx="504825" cy="1615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Slide 13</a:t>
            </a:r>
            <a:endParaRPr/>
          </a:p>
        </p:txBody>
      </p:sp>
      <p:sp>
        <p:nvSpPr>
          <p:cNvPr id="361" name="Google Shape;361;p25"/>
          <p:cNvSpPr/>
          <p:nvPr/>
        </p:nvSpPr>
        <p:spPr>
          <a:xfrm>
            <a:off x="2919414" y="595312"/>
            <a:ext cx="57150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Google Shape;362;p25"/>
          <p:cNvSpPr txBox="1"/>
          <p:nvPr/>
        </p:nvSpPr>
        <p:spPr>
          <a:xfrm>
            <a:off x="866775" y="2424117"/>
            <a:ext cx="10981372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E11D48"/>
                </a:solidFill>
                <a:latin typeface="Roboto"/>
                <a:ea typeface="Roboto"/>
                <a:cs typeface="Roboto"/>
                <a:sym typeface="Roboto"/>
              </a:rPr>
              <a:t>Quan Trọng Nhất</a:t>
            </a:r>
            <a:endParaRPr/>
          </a:p>
        </p:txBody>
      </p:sp>
      <p:sp>
        <p:nvSpPr>
          <p:cNvPr id="363" name="Google Shape;363;p25"/>
          <p:cNvSpPr txBox="1"/>
          <p:nvPr/>
        </p:nvSpPr>
        <p:spPr>
          <a:xfrm>
            <a:off x="866777" y="2833687"/>
            <a:ext cx="10458451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rPr>
              <a:t>Lưu trữ dữ liệu thiết kế từ Canvas.</a:t>
            </a:r>
            <a:endParaRPr/>
          </a:p>
        </p:txBody>
      </p:sp>
      <p:sp>
        <p:nvSpPr>
          <p:cNvPr id="364" name="Google Shape;364;p25"/>
          <p:cNvSpPr txBox="1"/>
          <p:nvPr/>
        </p:nvSpPr>
        <p:spPr>
          <a:xfrm>
            <a:off x="866777" y="4881562"/>
            <a:ext cx="10458451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rPr>
              <a:t>Dữ liệu JSON này cho phép Admin "Re-render" lại thiết kế để in ấn.</a:t>
            </a:r>
            <a:endParaRPr/>
          </a:p>
        </p:txBody>
      </p:sp>
      <p:pic>
        <p:nvPicPr>
          <p:cNvPr id="365" name="Google Shape;365;p25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381000" y="6557962"/>
            <a:ext cx="152400" cy="1333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0" name="Google Shape;370;p2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71" name="Google Shape;371;p2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5" y="2505080"/>
            <a:ext cx="5286375" cy="2600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72" name="Google Shape;372;p26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34129" y="2505080"/>
            <a:ext cx="5286375" cy="2600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73" name="Google Shape;373;p26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0" y="6381750"/>
            <a:ext cx="1219200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374" name="Google Shape;374;p26"/>
          <p:cNvSpPr txBox="1"/>
          <p:nvPr/>
        </p:nvSpPr>
        <p:spPr>
          <a:xfrm>
            <a:off x="571501" y="381001"/>
            <a:ext cx="3829051" cy="9694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03366"/>
                </a:solidFill>
                <a:latin typeface="Roboto"/>
                <a:ea typeface="Roboto"/>
                <a:cs typeface="Roboto"/>
                <a:sym typeface="Roboto"/>
              </a:rPr>
              <a:t>Chi Tiết Bảng: Orders</a:t>
            </a:r>
            <a:endParaRPr/>
          </a:p>
        </p:txBody>
      </p:sp>
      <p:sp>
        <p:nvSpPr>
          <p:cNvPr id="375" name="Google Shape;375;p26"/>
          <p:cNvSpPr txBox="1"/>
          <p:nvPr/>
        </p:nvSpPr>
        <p:spPr>
          <a:xfrm>
            <a:off x="628651" y="6463061"/>
            <a:ext cx="876300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u="none" strike="noStrike" cap="none">
                <a:solidFill>
                  <a:srgbClr val="003366"/>
                </a:solidFill>
                <a:latin typeface="Open Sans SemiBold"/>
                <a:ea typeface="Open Sans SemiBold"/>
                <a:cs typeface="Open Sans SemiBold"/>
                <a:sym typeface="Open Sans SemiBold"/>
              </a:rPr>
              <a:t>Mytee Studio</a:t>
            </a:r>
            <a:endParaRPr/>
          </a:p>
        </p:txBody>
      </p:sp>
      <p:sp>
        <p:nvSpPr>
          <p:cNvPr id="376" name="Google Shape;376;p26"/>
          <p:cNvSpPr txBox="1"/>
          <p:nvPr/>
        </p:nvSpPr>
        <p:spPr>
          <a:xfrm>
            <a:off x="11306180" y="6534156"/>
            <a:ext cx="504825" cy="1615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Slide 14</a:t>
            </a:r>
            <a:endParaRPr/>
          </a:p>
        </p:txBody>
      </p:sp>
      <p:sp>
        <p:nvSpPr>
          <p:cNvPr id="377" name="Google Shape;377;p26"/>
          <p:cNvSpPr/>
          <p:nvPr/>
        </p:nvSpPr>
        <p:spPr>
          <a:xfrm>
            <a:off x="2200275" y="595312"/>
            <a:ext cx="57150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78" name="Google Shape;378;p26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381000" y="6557962"/>
            <a:ext cx="152400" cy="133350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26"/>
          <p:cNvSpPr txBox="1"/>
          <p:nvPr/>
        </p:nvSpPr>
        <p:spPr>
          <a:xfrm>
            <a:off x="904875" y="2790830"/>
            <a:ext cx="4900612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003366"/>
                </a:solidFill>
                <a:latin typeface="Roboto"/>
                <a:ea typeface="Roboto"/>
                <a:cs typeface="Roboto"/>
                <a:sym typeface="Roboto"/>
              </a:rPr>
              <a:t>Bảng Orders</a:t>
            </a:r>
            <a:endParaRPr/>
          </a:p>
        </p:txBody>
      </p:sp>
      <p:sp>
        <p:nvSpPr>
          <p:cNvPr id="380" name="Google Shape;380;p26"/>
          <p:cNvSpPr txBox="1"/>
          <p:nvPr/>
        </p:nvSpPr>
        <p:spPr>
          <a:xfrm>
            <a:off x="904877" y="3200400"/>
            <a:ext cx="4667251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rPr>
              <a:t>Lưu thông tin tổng quan đơn hàng:</a:t>
            </a:r>
            <a:endParaRPr/>
          </a:p>
        </p:txBody>
      </p:sp>
      <p:sp>
        <p:nvSpPr>
          <p:cNvPr id="381" name="Google Shape;381;p26"/>
          <p:cNvSpPr txBox="1"/>
          <p:nvPr/>
        </p:nvSpPr>
        <p:spPr>
          <a:xfrm>
            <a:off x="6667503" y="2790830"/>
            <a:ext cx="4900612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003366"/>
                </a:solidFill>
                <a:latin typeface="Roboto"/>
                <a:ea typeface="Roboto"/>
                <a:cs typeface="Roboto"/>
                <a:sym typeface="Roboto"/>
              </a:rPr>
              <a:t>Bảng Order Items</a:t>
            </a:r>
            <a:endParaRPr/>
          </a:p>
        </p:txBody>
      </p:sp>
      <p:sp>
        <p:nvSpPr>
          <p:cNvPr id="382" name="Google Shape;382;p26"/>
          <p:cNvSpPr txBox="1"/>
          <p:nvPr/>
        </p:nvSpPr>
        <p:spPr>
          <a:xfrm>
            <a:off x="6667501" y="3200400"/>
            <a:ext cx="4667251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rPr>
              <a:t>Lưu chi tiết từng món hàng:</a:t>
            </a:r>
            <a:endParaRPr/>
          </a:p>
        </p:txBody>
      </p:sp>
      <p:sp>
        <p:nvSpPr>
          <p:cNvPr id="383" name="Google Shape;383;p26"/>
          <p:cNvSpPr txBox="1"/>
          <p:nvPr/>
        </p:nvSpPr>
        <p:spPr>
          <a:xfrm>
            <a:off x="828675" y="3600450"/>
            <a:ext cx="76200" cy="230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rPr>
              <a:t>•</a:t>
            </a:r>
            <a:endParaRPr/>
          </a:p>
        </p:txBody>
      </p:sp>
      <p:sp>
        <p:nvSpPr>
          <p:cNvPr id="384" name="Google Shape;384;p26"/>
          <p:cNvSpPr txBox="1"/>
          <p:nvPr/>
        </p:nvSpPr>
        <p:spPr>
          <a:xfrm>
            <a:off x="904877" y="3600450"/>
            <a:ext cx="4667251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2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rPr>
              <a:t>User ID</a:t>
            </a:r>
            <a:endParaRPr/>
          </a:p>
        </p:txBody>
      </p:sp>
      <p:sp>
        <p:nvSpPr>
          <p:cNvPr id="385" name="Google Shape;385;p26"/>
          <p:cNvSpPr txBox="1"/>
          <p:nvPr/>
        </p:nvSpPr>
        <p:spPr>
          <a:xfrm>
            <a:off x="828675" y="3905250"/>
            <a:ext cx="76200" cy="230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rPr>
              <a:t>•</a:t>
            </a:r>
            <a:endParaRPr/>
          </a:p>
        </p:txBody>
      </p:sp>
      <p:sp>
        <p:nvSpPr>
          <p:cNvPr id="386" name="Google Shape;386;p26"/>
          <p:cNvSpPr txBox="1"/>
          <p:nvPr/>
        </p:nvSpPr>
        <p:spPr>
          <a:xfrm>
            <a:off x="904877" y="3905250"/>
            <a:ext cx="4667251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2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rPr>
              <a:t>Total Price (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rPr>
              <a:t>Tổng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rPr>
              <a:t>tiền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rPr>
              <a:t>)</a:t>
            </a:r>
            <a:endParaRPr dirty="0"/>
          </a:p>
        </p:txBody>
      </p:sp>
      <p:sp>
        <p:nvSpPr>
          <p:cNvPr id="387" name="Google Shape;387;p26"/>
          <p:cNvSpPr txBox="1"/>
          <p:nvPr/>
        </p:nvSpPr>
        <p:spPr>
          <a:xfrm>
            <a:off x="828675" y="4210050"/>
            <a:ext cx="76200" cy="230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rPr>
              <a:t>•</a:t>
            </a:r>
            <a:endParaRPr/>
          </a:p>
        </p:txBody>
      </p:sp>
      <p:sp>
        <p:nvSpPr>
          <p:cNvPr id="388" name="Google Shape;388;p26"/>
          <p:cNvSpPr txBox="1"/>
          <p:nvPr/>
        </p:nvSpPr>
        <p:spPr>
          <a:xfrm>
            <a:off x="904877" y="4210050"/>
            <a:ext cx="4667251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2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rPr>
              <a:t>Shipping Address (Địa chỉ)</a:t>
            </a:r>
            <a:endParaRPr/>
          </a:p>
        </p:txBody>
      </p:sp>
      <p:sp>
        <p:nvSpPr>
          <p:cNvPr id="389" name="Google Shape;389;p26"/>
          <p:cNvSpPr txBox="1"/>
          <p:nvPr/>
        </p:nvSpPr>
        <p:spPr>
          <a:xfrm>
            <a:off x="828675" y="4514850"/>
            <a:ext cx="76200" cy="230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rPr>
              <a:t>•</a:t>
            </a:r>
            <a:endParaRPr/>
          </a:p>
        </p:txBody>
      </p:sp>
      <p:sp>
        <p:nvSpPr>
          <p:cNvPr id="390" name="Google Shape;390;p26"/>
          <p:cNvSpPr txBox="1"/>
          <p:nvPr/>
        </p:nvSpPr>
        <p:spPr>
          <a:xfrm>
            <a:off x="904877" y="4514850"/>
            <a:ext cx="4667251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2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rPr>
              <a:t>Status (Pending, Processing, Done)</a:t>
            </a:r>
            <a:endParaRPr/>
          </a:p>
        </p:txBody>
      </p:sp>
      <p:sp>
        <p:nvSpPr>
          <p:cNvPr id="391" name="Google Shape;391;p26"/>
          <p:cNvSpPr txBox="1"/>
          <p:nvPr/>
        </p:nvSpPr>
        <p:spPr>
          <a:xfrm>
            <a:off x="6591300" y="3600450"/>
            <a:ext cx="76200" cy="230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rPr>
              <a:t>•</a:t>
            </a:r>
            <a:endParaRPr/>
          </a:p>
        </p:txBody>
      </p:sp>
      <p:sp>
        <p:nvSpPr>
          <p:cNvPr id="392" name="Google Shape;392;p26"/>
          <p:cNvSpPr txBox="1"/>
          <p:nvPr/>
        </p:nvSpPr>
        <p:spPr>
          <a:xfrm>
            <a:off x="6667501" y="3600450"/>
            <a:ext cx="4667251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2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rPr>
              <a:t>Order ID</a:t>
            </a:r>
            <a:endParaRPr/>
          </a:p>
        </p:txBody>
      </p:sp>
      <p:sp>
        <p:nvSpPr>
          <p:cNvPr id="393" name="Google Shape;393;p26"/>
          <p:cNvSpPr txBox="1"/>
          <p:nvPr/>
        </p:nvSpPr>
        <p:spPr>
          <a:xfrm>
            <a:off x="6591300" y="3905250"/>
            <a:ext cx="76200" cy="230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rPr>
              <a:t>•</a:t>
            </a:r>
            <a:endParaRPr/>
          </a:p>
        </p:txBody>
      </p:sp>
      <p:sp>
        <p:nvSpPr>
          <p:cNvPr id="394" name="Google Shape;394;p26"/>
          <p:cNvSpPr txBox="1"/>
          <p:nvPr/>
        </p:nvSpPr>
        <p:spPr>
          <a:xfrm>
            <a:off x="6667501" y="3905250"/>
            <a:ext cx="4667251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2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05B96"/>
                </a:solidFill>
                <a:latin typeface="Open Sans"/>
                <a:ea typeface="Open Sans"/>
                <a:cs typeface="Open Sans"/>
                <a:sym typeface="Open Sans"/>
              </a:rPr>
              <a:t>Design ID</a:t>
            </a:r>
            <a:r>
              <a:rPr lang="en-US" sz="1500" b="0" i="0" u="none" strike="noStrike" cap="none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rPr>
              <a:t> (Liên kết bản thiết kế)</a:t>
            </a:r>
            <a:endParaRPr/>
          </a:p>
        </p:txBody>
      </p:sp>
      <p:sp>
        <p:nvSpPr>
          <p:cNvPr id="395" name="Google Shape;395;p26"/>
          <p:cNvSpPr txBox="1"/>
          <p:nvPr/>
        </p:nvSpPr>
        <p:spPr>
          <a:xfrm>
            <a:off x="6591300" y="4210050"/>
            <a:ext cx="76200" cy="230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rPr>
              <a:t>•</a:t>
            </a:r>
            <a:endParaRPr/>
          </a:p>
        </p:txBody>
      </p:sp>
      <p:sp>
        <p:nvSpPr>
          <p:cNvPr id="396" name="Google Shape;396;p26"/>
          <p:cNvSpPr txBox="1"/>
          <p:nvPr/>
        </p:nvSpPr>
        <p:spPr>
          <a:xfrm>
            <a:off x="6667501" y="4210050"/>
            <a:ext cx="4667251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2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rPr>
              <a:t>Quantity, Size</a:t>
            </a:r>
            <a:endParaRPr/>
          </a:p>
        </p:txBody>
      </p:sp>
      <p:sp>
        <p:nvSpPr>
          <p:cNvPr id="397" name="Google Shape;397;p26"/>
          <p:cNvSpPr txBox="1"/>
          <p:nvPr/>
        </p:nvSpPr>
        <p:spPr>
          <a:xfrm>
            <a:off x="6591300" y="4514850"/>
            <a:ext cx="76200" cy="230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rPr>
              <a:t>•</a:t>
            </a:r>
            <a:endParaRPr/>
          </a:p>
        </p:txBody>
      </p:sp>
      <p:sp>
        <p:nvSpPr>
          <p:cNvPr id="398" name="Google Shape;398;p26"/>
          <p:cNvSpPr txBox="1"/>
          <p:nvPr/>
        </p:nvSpPr>
        <p:spPr>
          <a:xfrm>
            <a:off x="6667501" y="4514850"/>
            <a:ext cx="4667251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2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rPr>
              <a:t>Unit Price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3" name="Google Shape;403;p2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04" name="Google Shape;404;p2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0" y="6381750"/>
            <a:ext cx="1219200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405" name="Google Shape;405;p27"/>
          <p:cNvSpPr txBox="1"/>
          <p:nvPr/>
        </p:nvSpPr>
        <p:spPr>
          <a:xfrm>
            <a:off x="571505" y="381001"/>
            <a:ext cx="4676775" cy="9694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03366"/>
                </a:solidFill>
                <a:latin typeface="Roboto"/>
                <a:ea typeface="Roboto"/>
                <a:cs typeface="Roboto"/>
                <a:sym typeface="Roboto"/>
              </a:rPr>
              <a:t>Quy Trình Xử Lý Đơn Hàng</a:t>
            </a:r>
            <a:endParaRPr/>
          </a:p>
        </p:txBody>
      </p:sp>
      <p:sp>
        <p:nvSpPr>
          <p:cNvPr id="406" name="Google Shape;406;p27"/>
          <p:cNvSpPr txBox="1"/>
          <p:nvPr/>
        </p:nvSpPr>
        <p:spPr>
          <a:xfrm>
            <a:off x="628651" y="6463061"/>
            <a:ext cx="876300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u="none" strike="noStrike" cap="none">
                <a:solidFill>
                  <a:srgbClr val="003366"/>
                </a:solidFill>
                <a:latin typeface="Open Sans SemiBold"/>
                <a:ea typeface="Open Sans SemiBold"/>
                <a:cs typeface="Open Sans SemiBold"/>
                <a:sym typeface="Open Sans SemiBold"/>
              </a:rPr>
              <a:t>Mytee Studio</a:t>
            </a:r>
            <a:endParaRPr/>
          </a:p>
        </p:txBody>
      </p:sp>
      <p:sp>
        <p:nvSpPr>
          <p:cNvPr id="407" name="Google Shape;407;p27"/>
          <p:cNvSpPr txBox="1"/>
          <p:nvPr/>
        </p:nvSpPr>
        <p:spPr>
          <a:xfrm>
            <a:off x="11306180" y="6534156"/>
            <a:ext cx="504825" cy="1615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Slide 15</a:t>
            </a:r>
            <a:endParaRPr/>
          </a:p>
        </p:txBody>
      </p:sp>
      <p:sp>
        <p:nvSpPr>
          <p:cNvPr id="409" name="Google Shape;409;p27"/>
          <p:cNvSpPr/>
          <p:nvPr/>
        </p:nvSpPr>
        <p:spPr>
          <a:xfrm>
            <a:off x="1047751" y="3976613"/>
            <a:ext cx="10096500" cy="381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10" name="Google Shape;410;p27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81000" y="6557962"/>
            <a:ext cx="152400" cy="133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411" name="Google Shape;411;p27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280071" y="3403252"/>
            <a:ext cx="571500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412" name="Google Shape;412;p27"/>
          <p:cNvSpPr txBox="1"/>
          <p:nvPr/>
        </p:nvSpPr>
        <p:spPr>
          <a:xfrm>
            <a:off x="521780" y="4117627"/>
            <a:ext cx="2088229" cy="18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003366"/>
                </a:solidFill>
                <a:latin typeface="Open Sans"/>
                <a:ea typeface="Open Sans"/>
                <a:cs typeface="Open Sans"/>
                <a:sym typeface="Open Sans"/>
              </a:rPr>
              <a:t>1. Chọn Áo</a:t>
            </a:r>
            <a:endParaRPr/>
          </a:p>
        </p:txBody>
      </p:sp>
      <p:sp>
        <p:nvSpPr>
          <p:cNvPr id="413" name="Google Shape;413;p27"/>
          <p:cNvSpPr txBox="1"/>
          <p:nvPr/>
        </p:nvSpPr>
        <p:spPr>
          <a:xfrm>
            <a:off x="571503" y="4374802"/>
            <a:ext cx="1988791" cy="258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rPr>
              <a:t>Chọn loại, màu, size</a:t>
            </a:r>
            <a:endParaRPr/>
          </a:p>
        </p:txBody>
      </p:sp>
      <p:pic>
        <p:nvPicPr>
          <p:cNvPr id="414" name="Google Shape;414;p27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3545087" y="3403252"/>
            <a:ext cx="571500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415" name="Google Shape;415;p27"/>
          <p:cNvSpPr txBox="1"/>
          <p:nvPr/>
        </p:nvSpPr>
        <p:spPr>
          <a:xfrm>
            <a:off x="2786796" y="4117627"/>
            <a:ext cx="2088229" cy="18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003366"/>
                </a:solidFill>
                <a:latin typeface="Open Sans"/>
                <a:ea typeface="Open Sans"/>
                <a:cs typeface="Open Sans"/>
                <a:sym typeface="Open Sans"/>
              </a:rPr>
              <a:t>2. Thiết Kế</a:t>
            </a:r>
            <a:endParaRPr/>
          </a:p>
        </p:txBody>
      </p:sp>
      <p:sp>
        <p:nvSpPr>
          <p:cNvPr id="416" name="Google Shape;416;p27"/>
          <p:cNvSpPr txBox="1"/>
          <p:nvPr/>
        </p:nvSpPr>
        <p:spPr>
          <a:xfrm>
            <a:off x="2836518" y="4374802"/>
            <a:ext cx="1988791" cy="258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rPr>
              <a:t>Tùy chỉnh trên Web</a:t>
            </a:r>
            <a:endParaRPr/>
          </a:p>
        </p:txBody>
      </p:sp>
      <p:pic>
        <p:nvPicPr>
          <p:cNvPr id="417" name="Google Shape;417;p27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810103" y="3403252"/>
            <a:ext cx="571500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418" name="Google Shape;418;p27"/>
          <p:cNvSpPr txBox="1"/>
          <p:nvPr/>
        </p:nvSpPr>
        <p:spPr>
          <a:xfrm>
            <a:off x="5051812" y="4117627"/>
            <a:ext cx="2088229" cy="18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003366"/>
                </a:solidFill>
                <a:latin typeface="Open Sans"/>
                <a:ea typeface="Open Sans"/>
                <a:cs typeface="Open Sans"/>
                <a:sym typeface="Open Sans"/>
              </a:rPr>
              <a:t>3. Đặt Hàng</a:t>
            </a:r>
            <a:endParaRPr/>
          </a:p>
        </p:txBody>
      </p:sp>
      <p:sp>
        <p:nvSpPr>
          <p:cNvPr id="419" name="Google Shape;419;p27"/>
          <p:cNvSpPr txBox="1"/>
          <p:nvPr/>
        </p:nvSpPr>
        <p:spPr>
          <a:xfrm>
            <a:off x="5101533" y="4374802"/>
            <a:ext cx="1988791" cy="258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rPr>
              <a:t>Checkout &amp; Thanh toán</a:t>
            </a:r>
            <a:endParaRPr/>
          </a:p>
        </p:txBody>
      </p:sp>
      <p:pic>
        <p:nvPicPr>
          <p:cNvPr id="420" name="Google Shape;420;p27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075119" y="3403252"/>
            <a:ext cx="571500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421" name="Google Shape;421;p27"/>
          <p:cNvSpPr txBox="1"/>
          <p:nvPr/>
        </p:nvSpPr>
        <p:spPr>
          <a:xfrm>
            <a:off x="7316828" y="4117627"/>
            <a:ext cx="2088229" cy="18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003366"/>
                </a:solidFill>
                <a:latin typeface="Open Sans"/>
                <a:ea typeface="Open Sans"/>
                <a:cs typeface="Open Sans"/>
                <a:sym typeface="Open Sans"/>
              </a:rPr>
              <a:t>4. In Ấn</a:t>
            </a:r>
            <a:endParaRPr/>
          </a:p>
        </p:txBody>
      </p:sp>
      <p:sp>
        <p:nvSpPr>
          <p:cNvPr id="422" name="Google Shape;422;p27"/>
          <p:cNvSpPr txBox="1"/>
          <p:nvPr/>
        </p:nvSpPr>
        <p:spPr>
          <a:xfrm>
            <a:off x="7366549" y="4374802"/>
            <a:ext cx="1988791" cy="258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rPr>
              <a:t>Admin tải file &amp; In</a:t>
            </a:r>
            <a:endParaRPr/>
          </a:p>
        </p:txBody>
      </p:sp>
      <p:pic>
        <p:nvPicPr>
          <p:cNvPr id="423" name="Google Shape;423;p27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0340131" y="3403252"/>
            <a:ext cx="571500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424" name="Google Shape;424;p27"/>
          <p:cNvSpPr txBox="1"/>
          <p:nvPr/>
        </p:nvSpPr>
        <p:spPr>
          <a:xfrm>
            <a:off x="9581844" y="4117627"/>
            <a:ext cx="2088229" cy="18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003366"/>
                </a:solidFill>
                <a:latin typeface="Open Sans"/>
                <a:ea typeface="Open Sans"/>
                <a:cs typeface="Open Sans"/>
                <a:sym typeface="Open Sans"/>
              </a:rPr>
              <a:t>5. Giao Hàng</a:t>
            </a:r>
            <a:endParaRPr/>
          </a:p>
        </p:txBody>
      </p:sp>
      <p:sp>
        <p:nvSpPr>
          <p:cNvPr id="425" name="Google Shape;425;p27"/>
          <p:cNvSpPr txBox="1"/>
          <p:nvPr/>
        </p:nvSpPr>
        <p:spPr>
          <a:xfrm>
            <a:off x="9631563" y="4374802"/>
            <a:ext cx="1988791" cy="258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rPr>
              <a:t>Vận chuyển đến khách</a:t>
            </a:r>
            <a:endParaRPr/>
          </a:p>
        </p:txBody>
      </p:sp>
      <p:pic>
        <p:nvPicPr>
          <p:cNvPr id="426" name="Google Shape;426;p27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1422949" y="3574702"/>
            <a:ext cx="285751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27" name="Google Shape;427;p27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3716535" y="3574702"/>
            <a:ext cx="22860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28" name="Google Shape;428;p27" descr="image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5967267" y="3574702"/>
            <a:ext cx="257175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29" name="Google Shape;429;p27" descr="image.png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8246567" y="3574702"/>
            <a:ext cx="22860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0" name="Google Shape;430;p27" descr="image.png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10483009" y="3574702"/>
            <a:ext cx="285751" cy="228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5" name="Google Shape;435;p2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6" name="Google Shape;436;p2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5" y="1323980"/>
            <a:ext cx="5286375" cy="4962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37" name="Google Shape;437;p28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34129" y="1323980"/>
            <a:ext cx="5286375" cy="4962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38" name="Google Shape;438;p28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0" y="6381750"/>
            <a:ext cx="1219200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439" name="Google Shape;439;p28"/>
          <p:cNvSpPr txBox="1"/>
          <p:nvPr/>
        </p:nvSpPr>
        <p:spPr>
          <a:xfrm>
            <a:off x="571503" y="381001"/>
            <a:ext cx="3467100" cy="9694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03366"/>
                </a:solidFill>
                <a:latin typeface="Roboto"/>
                <a:ea typeface="Roboto"/>
                <a:cs typeface="Roboto"/>
                <a:sym typeface="Roboto"/>
              </a:rPr>
              <a:t>Đánh Giá Hệ Thống</a:t>
            </a:r>
            <a:endParaRPr/>
          </a:p>
        </p:txBody>
      </p:sp>
      <p:sp>
        <p:nvSpPr>
          <p:cNvPr id="440" name="Google Shape;440;p28"/>
          <p:cNvSpPr txBox="1"/>
          <p:nvPr/>
        </p:nvSpPr>
        <p:spPr>
          <a:xfrm>
            <a:off x="628651" y="6463061"/>
            <a:ext cx="876300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u="none" strike="noStrike" cap="none">
                <a:solidFill>
                  <a:srgbClr val="003366"/>
                </a:solidFill>
                <a:latin typeface="Open Sans SemiBold"/>
                <a:ea typeface="Open Sans SemiBold"/>
                <a:cs typeface="Open Sans SemiBold"/>
                <a:sym typeface="Open Sans SemiBold"/>
              </a:rPr>
              <a:t>Mytee Studio</a:t>
            </a:r>
            <a:endParaRPr/>
          </a:p>
        </p:txBody>
      </p:sp>
      <p:sp>
        <p:nvSpPr>
          <p:cNvPr id="441" name="Google Shape;441;p28"/>
          <p:cNvSpPr txBox="1"/>
          <p:nvPr/>
        </p:nvSpPr>
        <p:spPr>
          <a:xfrm>
            <a:off x="11306180" y="6534156"/>
            <a:ext cx="504825" cy="1615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Slide 16</a:t>
            </a:r>
            <a:endParaRPr/>
          </a:p>
        </p:txBody>
      </p:sp>
      <p:pic>
        <p:nvPicPr>
          <p:cNvPr id="443" name="Google Shape;443;p28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381000" y="6557962"/>
            <a:ext cx="152400" cy="133350"/>
          </a:xfrm>
          <a:prstGeom prst="rect">
            <a:avLst/>
          </a:prstGeom>
          <a:noFill/>
          <a:ln>
            <a:noFill/>
          </a:ln>
        </p:spPr>
      </p:pic>
      <p:sp>
        <p:nvSpPr>
          <p:cNvPr id="444" name="Google Shape;444;p28"/>
          <p:cNvSpPr txBox="1"/>
          <p:nvPr/>
        </p:nvSpPr>
        <p:spPr>
          <a:xfrm>
            <a:off x="904875" y="1609727"/>
            <a:ext cx="4900612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2860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10B981"/>
                </a:solidFill>
                <a:latin typeface="Roboto"/>
                <a:ea typeface="Roboto"/>
                <a:cs typeface="Roboto"/>
                <a:sym typeface="Roboto"/>
              </a:rPr>
              <a:t>Ưu Điểm</a:t>
            </a:r>
            <a:endParaRPr/>
          </a:p>
        </p:txBody>
      </p:sp>
      <p:sp>
        <p:nvSpPr>
          <p:cNvPr id="445" name="Google Shape;445;p28"/>
          <p:cNvSpPr txBox="1"/>
          <p:nvPr/>
        </p:nvSpPr>
        <p:spPr>
          <a:xfrm>
            <a:off x="6667503" y="1609727"/>
            <a:ext cx="4900612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2860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EF4444"/>
                </a:solidFill>
                <a:latin typeface="Roboto"/>
                <a:ea typeface="Roboto"/>
                <a:cs typeface="Roboto"/>
                <a:sym typeface="Roboto"/>
              </a:rPr>
              <a:t>Hạn Chế</a:t>
            </a:r>
            <a:endParaRPr/>
          </a:p>
        </p:txBody>
      </p:sp>
      <p:pic>
        <p:nvPicPr>
          <p:cNvPr id="446" name="Google Shape;446;p28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904875" y="1619250"/>
            <a:ext cx="22860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447" name="Google Shape;447;p28"/>
          <p:cNvSpPr txBox="1"/>
          <p:nvPr/>
        </p:nvSpPr>
        <p:spPr>
          <a:xfrm>
            <a:off x="1238250" y="2019300"/>
            <a:ext cx="433387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rPr>
              <a:t>Giao diện thân thiện (User Friendly).</a:t>
            </a:r>
            <a:endParaRPr/>
          </a:p>
        </p:txBody>
      </p:sp>
      <p:sp>
        <p:nvSpPr>
          <p:cNvPr id="448" name="Google Shape;448;p28"/>
          <p:cNvSpPr txBox="1"/>
          <p:nvPr/>
        </p:nvSpPr>
        <p:spPr>
          <a:xfrm>
            <a:off x="1238250" y="2466975"/>
            <a:ext cx="433387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rPr>
              <a:t>Công cụ thiết kế hoạt động mượt mà, trực quan.</a:t>
            </a:r>
            <a:endParaRPr/>
          </a:p>
        </p:txBody>
      </p:sp>
      <p:sp>
        <p:nvSpPr>
          <p:cNvPr id="449" name="Google Shape;449;p28"/>
          <p:cNvSpPr txBox="1"/>
          <p:nvPr/>
        </p:nvSpPr>
        <p:spPr>
          <a:xfrm>
            <a:off x="1238250" y="2914650"/>
            <a:ext cx="433387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rPr>
              <a:t>Quy trình quản lý dữ liệu chặt chẽ, chính xác.</a:t>
            </a:r>
            <a:endParaRPr/>
          </a:p>
        </p:txBody>
      </p:sp>
      <p:pic>
        <p:nvPicPr>
          <p:cNvPr id="450" name="Google Shape;450;p28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6667500" y="1619250"/>
            <a:ext cx="22860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451" name="Google Shape;451;p28"/>
          <p:cNvSpPr txBox="1"/>
          <p:nvPr/>
        </p:nvSpPr>
        <p:spPr>
          <a:xfrm>
            <a:off x="1238251" y="3287679"/>
            <a:ext cx="4333875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 err="1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rPr>
              <a:t>Chưa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rPr>
              <a:t>tích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rPr>
              <a:t>hợp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rPr>
              <a:t>cổng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rPr>
              <a:t>thanh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rPr>
              <a:t>toán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rPr>
              <a:t> Online (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rPr>
              <a:t>Momo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rPr>
              <a:t>/VNPAY).</a:t>
            </a:r>
            <a:endParaRPr dirty="0"/>
          </a:p>
        </p:txBody>
      </p:sp>
      <p:sp>
        <p:nvSpPr>
          <p:cNvPr id="452" name="Google Shape;452;p28"/>
          <p:cNvSpPr txBox="1"/>
          <p:nvPr/>
        </p:nvSpPr>
        <p:spPr>
          <a:xfrm>
            <a:off x="6950871" y="2057406"/>
            <a:ext cx="433387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 err="1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rPr>
              <a:t>Thư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rPr>
              <a:t>viện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rPr>
              <a:t>hình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rPr>
              <a:t>mẫu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rPr>
              <a:t> (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rPr>
              <a:t>Cliparts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rPr>
              <a:t>)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rPr>
              <a:t>còn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rPr>
              <a:t>hạn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rPr>
              <a:t>chế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  <a:endParaRPr dirty="0"/>
          </a:p>
        </p:txBody>
      </p:sp>
      <p:sp>
        <p:nvSpPr>
          <p:cNvPr id="453" name="Google Shape;453;p28"/>
          <p:cNvSpPr txBox="1"/>
          <p:nvPr/>
        </p:nvSpPr>
        <p:spPr>
          <a:xfrm>
            <a:off x="6950871" y="2505081"/>
            <a:ext cx="433387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rPr>
              <a:t>Chưa có tính năng xem trước 3D.</a:t>
            </a:r>
            <a:endParaRPr/>
          </a:p>
        </p:txBody>
      </p:sp>
      <p:pic>
        <p:nvPicPr>
          <p:cNvPr id="454" name="Google Shape;454;p28" descr="image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904879" y="2038356"/>
            <a:ext cx="104775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55" name="Google Shape;455;p28" descr="image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904879" y="2486031"/>
            <a:ext cx="104775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56" name="Google Shape;456;p28" descr="image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904879" y="2933706"/>
            <a:ext cx="104775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57" name="Google Shape;457;p28" descr="image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904879" y="3306735"/>
            <a:ext cx="104775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58" name="Google Shape;458;p28" descr="image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6617499" y="2076462"/>
            <a:ext cx="104775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59" name="Google Shape;459;p28" descr="image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6617499" y="2524137"/>
            <a:ext cx="104775" cy="219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4" name="Google Shape;464;p2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66" name="Google Shape;466;p2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603452" y="1323979"/>
            <a:ext cx="3492549" cy="4962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67" name="Google Shape;467;p29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81751" y="1323979"/>
            <a:ext cx="3492400" cy="4962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68" name="Google Shape;468;p29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0" y="6381750"/>
            <a:ext cx="1219200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469" name="Google Shape;469;p29"/>
          <p:cNvSpPr txBox="1"/>
          <p:nvPr/>
        </p:nvSpPr>
        <p:spPr>
          <a:xfrm>
            <a:off x="571505" y="381001"/>
            <a:ext cx="3152775" cy="9694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03366"/>
                </a:solidFill>
                <a:latin typeface="Roboto"/>
                <a:ea typeface="Roboto"/>
                <a:cs typeface="Roboto"/>
                <a:sym typeface="Roboto"/>
              </a:rPr>
              <a:t>Hướng Phát Triển</a:t>
            </a:r>
            <a:endParaRPr/>
          </a:p>
        </p:txBody>
      </p:sp>
      <p:sp>
        <p:nvSpPr>
          <p:cNvPr id="470" name="Google Shape;470;p29"/>
          <p:cNvSpPr txBox="1"/>
          <p:nvPr/>
        </p:nvSpPr>
        <p:spPr>
          <a:xfrm>
            <a:off x="628651" y="6463061"/>
            <a:ext cx="876300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u="none" strike="noStrike" cap="none">
                <a:solidFill>
                  <a:srgbClr val="003366"/>
                </a:solidFill>
                <a:latin typeface="Open Sans SemiBold"/>
                <a:ea typeface="Open Sans SemiBold"/>
                <a:cs typeface="Open Sans SemiBold"/>
                <a:sym typeface="Open Sans SemiBold"/>
              </a:rPr>
              <a:t>Mytee Studio</a:t>
            </a:r>
            <a:endParaRPr/>
          </a:p>
        </p:txBody>
      </p:sp>
      <p:sp>
        <p:nvSpPr>
          <p:cNvPr id="471" name="Google Shape;471;p29"/>
          <p:cNvSpPr txBox="1"/>
          <p:nvPr/>
        </p:nvSpPr>
        <p:spPr>
          <a:xfrm>
            <a:off x="11306180" y="6534156"/>
            <a:ext cx="504825" cy="1615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Slide 17</a:t>
            </a:r>
            <a:endParaRPr/>
          </a:p>
        </p:txBody>
      </p:sp>
      <p:sp>
        <p:nvSpPr>
          <p:cNvPr id="472" name="Google Shape;472;p29"/>
          <p:cNvSpPr/>
          <p:nvPr/>
        </p:nvSpPr>
        <p:spPr>
          <a:xfrm>
            <a:off x="1862139" y="595312"/>
            <a:ext cx="57150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73" name="Google Shape;473;p29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381000" y="6557962"/>
            <a:ext cx="152400" cy="133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477" name="Google Shape;477;p29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2936825" y="1609724"/>
            <a:ext cx="476251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478" name="Google Shape;478;p29"/>
          <p:cNvSpPr txBox="1"/>
          <p:nvPr/>
        </p:nvSpPr>
        <p:spPr>
          <a:xfrm>
            <a:off x="2936829" y="2181229"/>
            <a:ext cx="3017095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003366"/>
                </a:solidFill>
                <a:latin typeface="Roboto"/>
                <a:ea typeface="Roboto"/>
                <a:cs typeface="Roboto"/>
                <a:sym typeface="Roboto"/>
              </a:rPr>
              <a:t>Quản Lý Kho</a:t>
            </a:r>
            <a:endParaRPr/>
          </a:p>
        </p:txBody>
      </p:sp>
      <p:sp>
        <p:nvSpPr>
          <p:cNvPr id="479" name="Google Shape;479;p29"/>
          <p:cNvSpPr txBox="1"/>
          <p:nvPr/>
        </p:nvSpPr>
        <p:spPr>
          <a:xfrm>
            <a:off x="2936825" y="2590799"/>
            <a:ext cx="2873424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rPr>
              <a:t>Tự động trừ tồn kho phôi áo khi có đơn hàng mới.</a:t>
            </a:r>
            <a:endParaRPr/>
          </a:p>
        </p:txBody>
      </p:sp>
      <p:pic>
        <p:nvPicPr>
          <p:cNvPr id="480" name="Google Shape;480;p29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6715129" y="1609724"/>
            <a:ext cx="42862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481" name="Google Shape;481;p29"/>
          <p:cNvSpPr txBox="1"/>
          <p:nvPr/>
        </p:nvSpPr>
        <p:spPr>
          <a:xfrm>
            <a:off x="6715125" y="2181229"/>
            <a:ext cx="3016939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003366"/>
                </a:solidFill>
                <a:latin typeface="Roboto"/>
                <a:ea typeface="Roboto"/>
                <a:cs typeface="Roboto"/>
                <a:sym typeface="Roboto"/>
              </a:rPr>
              <a:t>AI Suggestion</a:t>
            </a:r>
            <a:endParaRPr/>
          </a:p>
        </p:txBody>
      </p:sp>
      <p:sp>
        <p:nvSpPr>
          <p:cNvPr id="482" name="Google Shape;482;p29"/>
          <p:cNvSpPr txBox="1"/>
          <p:nvPr/>
        </p:nvSpPr>
        <p:spPr>
          <a:xfrm>
            <a:off x="6715125" y="2590799"/>
            <a:ext cx="2873275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rPr>
              <a:t>Gợi ý mẫu thiết kế tự động dựa trên sở thích khách hàng.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3366"/>
        </a:solidFill>
        <a:effectLst/>
      </p:bgPr>
    </p:bg>
    <p:spTree>
      <p:nvGrpSpPr>
        <p:cNvPr id="1" name="Shape 4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7" name="Google Shape;487;p3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88" name="Google Shape;488;p3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89" name="Google Shape;489;p30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62629" y="1563141"/>
            <a:ext cx="666751" cy="762000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0"/>
          <p:cNvSpPr txBox="1"/>
          <p:nvPr/>
        </p:nvSpPr>
        <p:spPr>
          <a:xfrm>
            <a:off x="4900849" y="2610892"/>
            <a:ext cx="2390299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>
                <a:solidFill>
                  <a:srgbClr val="FFFFFF"/>
                </a:solidFill>
                <a:latin typeface="Roboto Black"/>
                <a:ea typeface="Roboto Black"/>
                <a:cs typeface="Roboto Black"/>
                <a:sym typeface="Roboto Black"/>
              </a:rPr>
              <a:t>KẾT LUẬN</a:t>
            </a:r>
            <a:endParaRPr/>
          </a:p>
        </p:txBody>
      </p:sp>
      <p:sp>
        <p:nvSpPr>
          <p:cNvPr id="491" name="Google Shape;491;p30"/>
          <p:cNvSpPr txBox="1"/>
          <p:nvPr/>
        </p:nvSpPr>
        <p:spPr>
          <a:xfrm>
            <a:off x="2286000" y="3249070"/>
            <a:ext cx="7620000" cy="8863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CBD5E1"/>
                </a:solidFill>
                <a:latin typeface="Open Sans"/>
                <a:ea typeface="Open Sans"/>
                <a:cs typeface="Open Sans"/>
                <a:sym typeface="Open Sans"/>
              </a:rPr>
              <a:t>Đề tài đã hoàn thành mục tiêu xây dựng hệ thống website bán áo thun in hình theo yêu cầu, sẵn sàng cho việc triển khai thực tế.</a:t>
            </a:r>
            <a:endParaRPr/>
          </a:p>
        </p:txBody>
      </p:sp>
      <p:sp>
        <p:nvSpPr>
          <p:cNvPr id="492" name="Google Shape;492;p30"/>
          <p:cNvSpPr txBox="1"/>
          <p:nvPr/>
        </p:nvSpPr>
        <p:spPr>
          <a:xfrm>
            <a:off x="4115757" y="4361413"/>
            <a:ext cx="3960495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FFFFFF"/>
                </a:solidFill>
                <a:latin typeface="Open Sans Light"/>
                <a:ea typeface="Open Sans Light"/>
                <a:cs typeface="Open Sans Light"/>
                <a:sym typeface="Open Sans Light"/>
              </a:rPr>
              <a:t>Cảm ơn Thầy/Cô đã lắng nghe!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Foundry">
  <a:themeElements>
    <a:clrScheme name="Foundry">
      <a:dk1>
        <a:sysClr val="windowText" lastClr="000000"/>
      </a:dk1>
      <a:lt1>
        <a:sysClr val="window" lastClr="FFFFFF"/>
      </a:lt1>
      <a:dk2>
        <a:srgbClr val="676A55"/>
      </a:dk2>
      <a:lt2>
        <a:srgbClr val="EAEBDE"/>
      </a:lt2>
      <a:accent1>
        <a:srgbClr val="72A376"/>
      </a:accent1>
      <a:accent2>
        <a:srgbClr val="B0CCB0"/>
      </a:accent2>
      <a:accent3>
        <a:srgbClr val="A8CDD7"/>
      </a:accent3>
      <a:accent4>
        <a:srgbClr val="C0BEAF"/>
      </a:accent4>
      <a:accent5>
        <a:srgbClr val="CEC597"/>
      </a:accent5>
      <a:accent6>
        <a:srgbClr val="E8B7B7"/>
      </a:accent6>
      <a:hlink>
        <a:srgbClr val="DB5353"/>
      </a:hlink>
      <a:folHlink>
        <a:srgbClr val="903638"/>
      </a:folHlink>
    </a:clrScheme>
    <a:fontScheme name="Foundry">
      <a:majorFont>
        <a:latin typeface="Rockwell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微軟正黑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Rockwell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標楷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Foundry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satMod val="180000"/>
              </a:schemeClr>
            </a:gs>
            <a:gs pos="62000">
              <a:schemeClr val="phClr">
                <a:tint val="30000"/>
                <a:satMod val="180000"/>
              </a:schemeClr>
            </a:gs>
            <a:gs pos="100000">
              <a:schemeClr val="phClr">
                <a:tint val="22000"/>
                <a:satMod val="180000"/>
              </a:schemeClr>
            </a:gs>
          </a:gsLst>
          <a:lin ang="16200000" scaled="0"/>
        </a:gradFill>
        <a:gradFill rotWithShape="1">
          <a:gsLst>
            <a:gs pos="0">
              <a:schemeClr val="phClr">
                <a:shade val="58000"/>
                <a:satMod val="150000"/>
              </a:schemeClr>
            </a:gs>
            <a:gs pos="72000">
              <a:schemeClr val="phClr">
                <a:tint val="90000"/>
                <a:satMod val="135000"/>
              </a:schemeClr>
            </a:gs>
            <a:gs pos="100000">
              <a:schemeClr val="phClr">
                <a:tint val="8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80000"/>
            </a:schemeClr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38100" dir="5400000" rotWithShape="0">
              <a:srgbClr val="000000">
                <a:alpha val="43137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43137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43137"/>
              </a:srgbClr>
            </a:outerShdw>
          </a:effectLst>
          <a:scene3d>
            <a:camera prst="orthographicFront" fov="0">
              <a:rot lat="0" lon="0" rev="0"/>
            </a:camera>
            <a:lightRig rig="soft" dir="tl">
              <a:rot lat="0" lon="0" rev="20000000"/>
            </a:lightRig>
          </a:scene3d>
          <a:sp3d prstMaterial="matte">
            <a:bevelT w="63500" h="6350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75000"/>
                <a:satMod val="400000"/>
              </a:schemeClr>
            </a:gs>
            <a:gs pos="20000">
              <a:schemeClr val="phClr">
                <a:tint val="80000"/>
                <a:satMod val="355000"/>
              </a:schemeClr>
            </a:gs>
            <a:gs pos="100000">
              <a:schemeClr val="phClr">
                <a:tint val="95000"/>
                <a:shade val="55000"/>
                <a:satMod val="355000"/>
              </a:schemeClr>
            </a:gs>
          </a:gsLst>
          <a:path path="circle">
            <a:fillToRect l="67500" t="35000" r="32500" b="65000"/>
          </a:path>
        </a:gradFill>
        <a:blipFill>
          <a:blip xmlns:r="http://schemas.openxmlformats.org/officeDocument/2006/relationships" r:embed="rId1">
            <a:duotone>
              <a:schemeClr val="phClr">
                <a:shade val="30000"/>
                <a:satMod val="120000"/>
              </a:schemeClr>
              <a:schemeClr val="phClr">
                <a:tint val="70000"/>
                <a:satMod val="250000"/>
              </a:schemeClr>
            </a:duotone>
          </a:blip>
          <a:tile tx="0" ty="0" sx="50000" sy="50000" flip="none" algn="t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Foundry</Template>
  <TotalTime>23</TotalTime>
  <Words>1060</Words>
  <Application>Microsoft Office PowerPoint</Application>
  <PresentationFormat>Custom</PresentationFormat>
  <Paragraphs>174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9" baseType="lpstr">
      <vt:lpstr>Arial</vt:lpstr>
      <vt:lpstr>Roboto</vt:lpstr>
      <vt:lpstr>Open Sans</vt:lpstr>
      <vt:lpstr>Roboto Black</vt:lpstr>
      <vt:lpstr>Rockwell</vt:lpstr>
      <vt:lpstr>Open Sans SemiBold</vt:lpstr>
      <vt:lpstr>Calibri</vt:lpstr>
      <vt:lpstr>Courier New</vt:lpstr>
      <vt:lpstr>Open Sans Light</vt:lpstr>
      <vt:lpstr>Wingdings 2</vt:lpstr>
      <vt:lpstr>Foundry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Thanh hai Vo</cp:lastModifiedBy>
  <cp:revision>5</cp:revision>
  <dcterms:modified xsi:type="dcterms:W3CDTF">2025-12-29T15:46:01Z</dcterms:modified>
</cp:coreProperties>
</file>